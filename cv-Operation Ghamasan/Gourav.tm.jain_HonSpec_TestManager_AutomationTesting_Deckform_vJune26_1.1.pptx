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6" r:id="rId2"/>
    <p:sldId id="21474705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89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33-EEFC-EF9A-163B-16FCBB1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A36E-AC66-36C4-4A48-7AE638ED9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D6F1C-9F27-348F-2936-1A28BD89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62EA0-C34A-CF10-AA5D-974247E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46F24-D884-44A4-9F12-C5CDC2F97E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5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747-9C35-2B97-876B-B827576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72F1-6054-5E52-7A05-6A4E26200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113BF-BB31-13D8-D692-611834F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4A50-7424-102A-F919-8DFDE2BC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A937-B284-ADA7-C860-A9E199C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C12FB8-D77F-9EDD-46A1-2DFE1EB87C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403661EE-A41D-1C59-2E59-5477DD5AEC6E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3147B0E-B0D5-6EDB-41F8-3691E72DFA3A}"/>
              </a:ext>
            </a:extLst>
          </p:cNvPr>
          <p:cNvSpPr/>
          <p:nvPr/>
        </p:nvSpPr>
        <p:spPr>
          <a:xfrm>
            <a:off x="4898243" y="490981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1597C1EE-F017-BF3E-F134-C5AFD3301774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A30BE28-076F-3D41-7D62-80C4268E8044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3B61395C-F749-DE1B-845E-25C0913A7448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621069-C0F7-2F68-EBAF-5B89D3AD9C93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15</a:t>
            </a:r>
            <a:r>
              <a:rPr lang="en-US" sz="115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.5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yrs. Designation: QA Architect/Manager.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Copilot(certified), Testim.io, Tabnine.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Leveraged AI tools (GitHub Copilot &amp; Tabnine) to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automate 70% of test code generation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boosting productivity by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65%. 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D33B400-E63C-E041-BB9A-3E6227B365DD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F473012-B042-9822-C6FC-6FA58A4101E0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63A0A696-9C98-69C5-A285-35CAE0D9205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4D3435D1-6228-8FCD-DB41-2F19D09095B2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8"/>
              </a:rPr>
              <a:t>AI Advocate Test Engineering Manager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/Architect</a:t>
            </a:r>
            <a:endParaRPr kumimoji="0" lang="de-DE" sz="2400" b="1" i="0" u="sng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F13E69D-4C69-8AEE-875A-2DD29919E78B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Gourav jain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7DCA923-1C32-5322-A100-ABC0F8EF1197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kumimoji="0" lang="de-DE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</a:t>
            </a:r>
            <a:r>
              <a:rPr lang="de-DE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ADOBE AEM.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48C1474-DE7A-0BA7-29AF-EC69E5217BCA}"/>
              </a:ext>
            </a:extLst>
          </p:cNvPr>
          <p:cNvSpPr txBox="1">
            <a:spLocks/>
          </p:cNvSpPr>
          <p:nvPr/>
        </p:nvSpPr>
        <p:spPr>
          <a:xfrm>
            <a:off x="94849" y="4432881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B86E54D-56BF-CD69-4E13-E2FF673437EA}"/>
              </a:ext>
            </a:extLst>
          </p:cNvPr>
          <p:cNvSpPr txBox="1">
            <a:spLocks/>
          </p:cNvSpPr>
          <p:nvPr/>
        </p:nvSpPr>
        <p:spPr>
          <a:xfrm>
            <a:off x="4810407" y="5094441"/>
            <a:ext cx="7409239" cy="2156770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</a:t>
            </a:r>
            <a:r>
              <a:rPr lang="en-US" sz="1100" b="1" u="sng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2025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>
            <a:extLst>
              <a:ext uri="{FF2B5EF4-FFF2-40B4-BE49-F238E27FC236}">
                <a16:creationId xmlns:a16="http://schemas.microsoft.com/office/drawing/2014/main" id="{1867D661-A5CB-540C-9C9F-137A9504CE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4" b="15854"/>
          <a:stretch/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8E3D8E-835B-2182-13F1-CBB76AFEC0F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F49-AEC8-D8DA-B316-13890328187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8CF33-234F-220C-883E-1A3F04D7E87D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B72C7-06F4-CF26-F89A-A8C71CC43573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Jaingourav999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Phone: +91-9601874688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LinkedIn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/>
              </a:rPr>
              <a:t>Blogs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cnBodyText_ID_27664">
            <a:extLst>
              <a:ext uri="{FF2B5EF4-FFF2-40B4-BE49-F238E27FC236}">
                <a16:creationId xmlns:a16="http://schemas.microsoft.com/office/drawing/2014/main" id="{0F5E17D7-289A-7CB9-9AF4-AAC9C4CB68BC}"/>
              </a:ext>
            </a:extLst>
          </p:cNvPr>
          <p:cNvSpPr/>
          <p:nvPr/>
        </p:nvSpPr>
        <p:spPr>
          <a:xfrm>
            <a:off x="4889890" y="52165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EXPERIENCE (Current Org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: Persistent)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Arial Black (Headings)"/>
              <a:ea typeface="SimSun" pitchFamily="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EB6A-1F81-702C-C45F-69972D8B0EA7}"/>
              </a:ext>
            </a:extLst>
          </p:cNvPr>
          <p:cNvSpPr txBox="1"/>
          <p:nvPr/>
        </p:nvSpPr>
        <p:spPr>
          <a:xfrm>
            <a:off x="4810407" y="623986"/>
            <a:ext cx="740923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Industrial Digital Systems Validation – Connected Asset Monitoring Platform (UHG/AEM-based System Validation)</a:t>
            </a:r>
          </a:p>
          <a:p>
            <a:pPr lvl="0" defTabSz="914011">
              <a:defRPr/>
            </a:pPr>
            <a:r>
              <a:rPr lang="en-US" sz="1100" b="1" u="sng" dirty="0">
                <a:solidFill>
                  <a:schemeClr val="accent2"/>
                </a:solidFill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, [May 2025 – Present]</a:t>
            </a:r>
            <a:r>
              <a:rPr kumimoji="0" lang="en-US" sz="11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fontAlgn="t">
              <a:lnSpc>
                <a:spcPts val="1500"/>
              </a:lnSpc>
              <a:buNone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100" b="0" i="0" dirty="0">
                <a:effectLst/>
              </a:rPr>
              <a:t>• Led end-to-end Test / Verification &amp; Validation (V&amp;V) activities for enterprise-grade digital platform integrating multiple systems, ensuring reliability, performance, and scalability across components.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 • Managed variety of testing activities including functional testing, integration testing, regression (repeatability), and system-level validation across UI, API, and platform layers.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Led QA team of 8–11 engineers across manual and automation streams, ensuring effective work allocation, mentoring, and delivery tracking aligned with quality and schedule.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Defined and implemented structured QA processes, validation strategies, and quality checkpoints across SDLC, ensuring consistent delivery standards and improved release stability.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Designed and implemented automation frameworks using Playwright, Selenium, and Cucumber, enabling faster validation cycles and improving regression coverage.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Developed reusable automation utilities and validation frameworks to simulate system-level testing and improve overall test efficiency.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Managed test environments, automation infrastructure, and CI/CD pipelines (Jenkins, GitHub Actions) to ensure stable and repeatable validation cycles.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Collaborated with cross-functional teams including development, platform, and business teams to drive common objectives on quality, cycle time, and customer satisfaction.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Acted as primary QA interface for stakeholders and global teams, ensuring transparent communication of test progress, risks, and release readiness. </a:t>
            </a:r>
            <a:endParaRPr lang="en-US" sz="1100" dirty="0"/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Coordinated with external teams and vendors for resource augmentation and delivery support across testing and automation initiatives.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100" b="0" i="0" dirty="0">
                <a:effectLst/>
              </a:rPr>
              <a:t>• Performed risk-based testing and impact analysis to prioritize validation scope and optimize testing effort for critical releases. </a:t>
            </a:r>
          </a:p>
          <a:p>
            <a:pPr marR="0" lvl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430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766-E992-5041-003E-14FDD13C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2A3246-B631-C545-DDFD-7BC63050C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46AAA6-256D-FA7B-41C7-BB76ACF55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7CDDE7D0-611D-9F0B-8FBB-4F8CB9B05721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C6956A-3278-E058-F636-59BF8416205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55DC42-5EC4-965B-031C-44803CE603E1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AEBD1E-82F5-6237-B87B-64E6327325C4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4151206-846B-6FE7-F64C-2269B6469CD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9FAB83C-75AA-55C0-5BE3-D4D6923C4149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25AD40E-0288-BD41-0A04-93BB6AE537FC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85C1EFA-79C0-5A9A-2B6E-2EA66CA9EB3B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337D-C62C-6E97-8461-7A32B9D5E037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375E4-9C96-BBF7-91A8-07822DE06D61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BCE3F1-F96E-AAC6-AE91-15D58074687C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9364B4-C929-C241-9761-2D897CF32532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AFC2-9381-20BA-7EA4-91623DAACA3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4FD0BB-7717-692B-2FA4-9EB695E8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28369"/>
              </p:ext>
            </p:extLst>
          </p:nvPr>
        </p:nvGraphicFramePr>
        <p:xfrm>
          <a:off x="408740" y="787636"/>
          <a:ext cx="3964761" cy="2295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Architect/Manager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Persistent, Pune.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2025-till date.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9200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Oct 2015-May 2025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FE0D5B2-2FF4-F753-814D-692A2DD8453C}"/>
              </a:ext>
            </a:extLst>
          </p:cNvPr>
          <p:cNvSpPr txBox="1"/>
          <p:nvPr/>
        </p:nvSpPr>
        <p:spPr>
          <a:xfrm>
            <a:off x="214507" y="342900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DB4661-C45E-6A6B-DA3D-927D50F25B2C}"/>
              </a:ext>
            </a:extLst>
          </p:cNvPr>
          <p:cNvSpPr txBox="1"/>
          <p:nvPr/>
        </p:nvSpPr>
        <p:spPr>
          <a:xfrm>
            <a:off x="4808764" y="5490768"/>
            <a:ext cx="713066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211E-FCCE-EB01-9019-CBBF53D04C6C}"/>
              </a:ext>
            </a:extLst>
          </p:cNvPr>
          <p:cNvSpPr txBox="1"/>
          <p:nvPr/>
        </p:nvSpPr>
        <p:spPr>
          <a:xfrm>
            <a:off x="4729462" y="3083485"/>
            <a:ext cx="72480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</a:t>
            </a:r>
            <a:r>
              <a:rPr lang="en-US" sz="11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F2D48-DB66-9461-8E07-507E98B543B8}"/>
              </a:ext>
            </a:extLst>
          </p:cNvPr>
          <p:cNvSpPr txBox="1"/>
          <p:nvPr/>
        </p:nvSpPr>
        <p:spPr>
          <a:xfrm>
            <a:off x="4721400" y="4425337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69D98-41AE-4A0E-09E7-BA21007386FC}"/>
              </a:ext>
            </a:extLst>
          </p:cNvPr>
          <p:cNvSpPr txBox="1"/>
          <p:nvPr/>
        </p:nvSpPr>
        <p:spPr>
          <a:xfrm>
            <a:off x="4677113" y="0"/>
            <a:ext cx="7292318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lvl="0" defTabSz="914011">
              <a:defRPr/>
            </a:pP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lang="en-US" sz="11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</a:t>
            </a:r>
            <a:r>
              <a:rPr kumimoji="0" lang="en-US" sz="110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Supertest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110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Supertest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5395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</p:txBody>
      </p:sp>
    </p:spTree>
    <p:extLst>
      <p:ext uri="{BB962C8B-B14F-4D97-AF65-F5344CB8AC3E}">
        <p14:creationId xmlns:p14="http://schemas.microsoft.com/office/powerpoint/2010/main" val="3697852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2269</TotalTime>
  <Words>1559</Words>
  <Application>Microsoft Office PowerPoint</Application>
  <PresentationFormat>Widescreen</PresentationFormat>
  <Paragraphs>126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Black (Headings)</vt:lpstr>
      <vt:lpstr>Calibri</vt:lpstr>
      <vt:lpstr>Calibri Light</vt:lpstr>
      <vt:lpstr>Graphik Light</vt:lpstr>
      <vt:lpstr>Segoe UI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</cp:lastModifiedBy>
  <cp:revision>179</cp:revision>
  <dcterms:created xsi:type="dcterms:W3CDTF">2023-02-08T14:25:43Z</dcterms:created>
  <dcterms:modified xsi:type="dcterms:W3CDTF">2026-06-24T14:13:25Z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