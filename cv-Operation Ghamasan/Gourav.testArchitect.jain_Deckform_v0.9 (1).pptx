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593" r:id="rId2"/>
    <p:sldId id="214747059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1320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BAFF9-FA33-4061-B456-9D8A3649E61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46F24-D884-44A4-9F12-C5CDC2F97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34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A204-18CD-B5CD-B248-BC19E58B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81A87-C9B2-1E05-8C0B-4DE1B3CFB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788D8-1E97-3D26-B37B-3F724CECE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F10E3-2A98-F18E-21F0-C3377F27A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68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A13E-702A-0514-15F8-02BCABA9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C2D22-C031-13FD-07FA-499CB8095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6EB2-C215-4F78-1C83-DD60613B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0E73-FF51-11F9-33AB-2CDE8E0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1DF9-44B1-0112-D5E3-71C0DF25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0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A039-6CE9-DD96-1305-05EA6B05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F00C-006E-EF9F-C417-E0B0B7AE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7145-2BF3-8080-5DF3-49620F1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C2A8-B7A3-0FF5-95B9-FBE6695F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9221-899E-9D84-6C81-EEC1DED7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9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1219-05C9-7004-3916-19ED8158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8C97-777C-9B59-B5E1-72A2D047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32D0-4C52-5D55-3D02-4BFAE43C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57A4-1517-7DFD-F200-B88D7C62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BE34-721B-03F2-B67B-02A9A331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9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56AB-9554-CB3D-9117-EF275204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217A-F376-E7FE-43B8-AF57DD653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F8AA8-7B22-8816-3687-9E9AF2502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8D67-7D9F-922A-411A-E95B294B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D50C-732A-3F1B-2C6F-2925E18A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2E929-5822-44B9-EA23-5B9C4AC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E15F-F1C6-B87C-B6F5-A6F9265DA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4614-68A0-6DEA-84A1-0BD7D176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C494A-BF75-8CFC-0DB3-BF0854E25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2AB4-9A5F-EC30-2C41-2906A77EE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E8790-07C6-5D0B-670E-52B85FC8A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BC36E-425C-6897-286F-5408EEAA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BE37-A4EE-814B-4E15-931DED98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08394-A20D-8D30-89C1-495250FE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912-1A25-C3C1-A8DA-1A347371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C51C1-FBCD-07D9-116B-2598DE0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68A0C-A1B5-19A7-B240-8536CFD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62F3-F1E2-FA5B-190E-51BB34F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1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277AD-50F4-14F3-8010-0D2B1478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5DCFB-5A76-6E0E-D20F-75010F72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5C70-74E0-5EEE-BE8A-A6A19328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6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41F7-07EF-9287-F9DD-FDE1902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C513-D53B-69DA-20D8-E24BDA9B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674C4-63FD-47D5-C97A-B161ED6C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1B4C-E0DB-51A0-60FA-EB002260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7406-0F3A-7AD6-7F71-420D755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BF71F-DA36-482C-DE75-5F306A6F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4575-5A9A-B5A9-106B-DD331981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8929F-9861-4ECF-9764-07E068227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C4BA4-1915-8E1C-A8F0-ACA71707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4B1AE-9EAB-ADF1-7EBB-E3C960FA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539E8-A015-2E9B-221C-3628B82A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FF3AA-1CFE-A76A-32DA-1957A119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C314-51BD-124D-EF6D-E7CD335B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FDF89-F4B8-5320-6120-4166BADBF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8E76-AB5C-1C07-9012-7097DBC7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D4C35-5C99-DAC3-8961-6769886A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FA04C-2283-E2E7-B722-BD778F47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02144-FCFE-A694-506A-E87F21C8C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691FC-7B5F-2ECA-8848-4BF8CC0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E6F3-CAB6-8C1C-DC10-DCC7FA57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1608-6609-1BC0-91B9-43B98B4F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3F7F-C5F1-E4C4-90EC-98188956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7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64EBE-9814-B203-B74D-4CB3E3D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3721-9AB2-50D9-D6F3-8E43AFAC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4164-B25F-FBF5-4C48-8566212F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84-AF4F-7E5B-08C5-3D677FBF9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2642-165D-F73C-856C-E29791A71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8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jaingourav999/" TargetMode="External"/><Relationship Id="rId3" Type="http://schemas.openxmlformats.org/officeDocument/2006/relationships/notesSlide" Target="../notesSlides/notesSlide1.xml"/><Relationship Id="rId7" Type="http://schemas.openxmlformats.org/officeDocument/2006/relationships/hyperlink" Target="https://github.com/gourav999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hyperlink" Target="https://www.linkedin.com/posts/jaingourav999_people-leadership-credential-chapter-1-activity-7302569438824833024-hHOo?utm_source=share&amp;utm_medium=member_desktop&amp;rcm=ACoAAAL7QG4B3HOM_wm3Yzo6_eXu2iCPqt9YoP0" TargetMode="External"/><Relationship Id="rId11" Type="http://schemas.openxmlformats.org/officeDocument/2006/relationships/hyperlink" Target="https://jaingourav999.blogspot.com/" TargetMode="External"/><Relationship Id="rId5" Type="http://schemas.openxmlformats.org/officeDocument/2006/relationships/image" Target="../media/image1.emf"/><Relationship Id="rId10" Type="http://schemas.openxmlformats.org/officeDocument/2006/relationships/hyperlink" Target="mailto:Gourav.b.jain@accenture.com" TargetMode="External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hyperlink" Target="https://www.linkedin.com/in/jaingourav999/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D6E3F57-1658-4DC3-A620-01E67AD0FC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cnBodyText_ID_27664">
            <a:extLst>
              <a:ext uri="{FF2B5EF4-FFF2-40B4-BE49-F238E27FC236}">
                <a16:creationId xmlns:a16="http://schemas.microsoft.com/office/drawing/2014/main" id="{11677FBE-2497-D4EB-10E6-6C9E112268C2}"/>
              </a:ext>
            </a:extLst>
          </p:cNvPr>
          <p:cNvSpPr/>
          <p:nvPr/>
        </p:nvSpPr>
        <p:spPr>
          <a:xfrm>
            <a:off x="72993" y="1193440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PROFESSIONAL BACKGROUND</a:t>
            </a:r>
          </a:p>
        </p:txBody>
      </p:sp>
      <p:sp>
        <p:nvSpPr>
          <p:cNvPr id="9" name="AcnBodyText_ID_27664">
            <a:extLst>
              <a:ext uri="{FF2B5EF4-FFF2-40B4-BE49-F238E27FC236}">
                <a16:creationId xmlns:a16="http://schemas.microsoft.com/office/drawing/2014/main" id="{E6FDE29B-B8F5-595F-AFF8-5FCD61A3DC3A}"/>
              </a:ext>
            </a:extLst>
          </p:cNvPr>
          <p:cNvSpPr/>
          <p:nvPr/>
        </p:nvSpPr>
        <p:spPr>
          <a:xfrm>
            <a:off x="4811818" y="479509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(Accenture, 9+ Years)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DECC325F-0ECC-0479-C3C5-564E94EA8A07}"/>
              </a:ext>
            </a:extLst>
          </p:cNvPr>
          <p:cNvCxnSpPr>
            <a:cxnSpLocks/>
          </p:cNvCxnSpPr>
          <p:nvPr/>
        </p:nvCxnSpPr>
        <p:spPr>
          <a:xfrm>
            <a:off x="4661760" y="846474"/>
            <a:ext cx="0" cy="5544541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AcnBodyText_ID_27664">
            <a:extLst>
              <a:ext uri="{FF2B5EF4-FFF2-40B4-BE49-F238E27FC236}">
                <a16:creationId xmlns:a16="http://schemas.microsoft.com/office/drawing/2014/main" id="{4905E5D0-EE1C-BC89-3E14-DD6A094D689B}"/>
              </a:ext>
            </a:extLst>
          </p:cNvPr>
          <p:cNvSpPr/>
          <p:nvPr/>
        </p:nvSpPr>
        <p:spPr>
          <a:xfrm>
            <a:off x="379944" y="4213354"/>
            <a:ext cx="1685266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kern="0" dirty="0">
                <a:solidFill>
                  <a:srgbClr val="000000"/>
                </a:solidFill>
                <a:cs typeface="Arial" pitchFamily="34"/>
              </a:rPr>
              <a:t>Industries</a:t>
            </a:r>
          </a:p>
        </p:txBody>
      </p:sp>
      <p:sp>
        <p:nvSpPr>
          <p:cNvPr id="12" name="AcnBodyText_ID_27664">
            <a:extLst>
              <a:ext uri="{FF2B5EF4-FFF2-40B4-BE49-F238E27FC236}">
                <a16:creationId xmlns:a16="http://schemas.microsoft.com/office/drawing/2014/main" id="{F104456C-B618-39E3-5C79-DD9EB05F1DF3}"/>
              </a:ext>
            </a:extLst>
          </p:cNvPr>
          <p:cNvSpPr/>
          <p:nvPr/>
        </p:nvSpPr>
        <p:spPr>
          <a:xfrm>
            <a:off x="1853200" y="4234957"/>
            <a:ext cx="1313500" cy="1846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kern="0" dirty="0">
                <a:solidFill>
                  <a:srgbClr val="000000"/>
                </a:solidFill>
                <a:cs typeface="Arial" pitchFamily="34"/>
              </a:rPr>
              <a:t>Applied Experience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982DC8-3F54-B864-7B01-F2FE4A57A93D}"/>
              </a:ext>
            </a:extLst>
          </p:cNvPr>
          <p:cNvSpPr txBox="1">
            <a:spLocks/>
          </p:cNvSpPr>
          <p:nvPr/>
        </p:nvSpPr>
        <p:spPr>
          <a:xfrm>
            <a:off x="6380" y="1376726"/>
            <a:ext cx="4617677" cy="23757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Gourav has around 15 years of experience in Software Testing currently working as ‘QA Manager’ in Accenture.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Automation roadmap, test strategy  for multiple projects.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with AI tools- Testim.io, Tabnine, GitHub Copilot (license).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Certified DFA (Delivery foundation academy-4.0), PMFS (Project management foundation school), </a:t>
            </a: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</a:t>
            </a:r>
            <a:r>
              <a:rPr lang="en-US" sz="1150" b="1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Leadership</a:t>
            </a: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Accenture.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0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Leveraged AI tools (Microsoft GitHub Copilot &amp; Tabnine) to </a:t>
            </a:r>
            <a:r>
              <a:rPr lang="en-US" sz="1150" b="1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automate 70% of test code generation</a:t>
            </a:r>
            <a:r>
              <a:rPr lang="en-US" sz="1150" b="0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, boosting productivity by </a:t>
            </a:r>
            <a:r>
              <a:rPr lang="en-US" sz="1150" b="1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65%.  </a:t>
            </a:r>
            <a:endParaRPr lang="en-US" sz="11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Proficient in prompt engineering to optimize results in Gen AI.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Skilled in developing and customizing Test Automation frameworks, Automating test planning, authoring test artifacts, and overseeing metrics data collection.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robust test frameworks</a:t>
            </a: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(BDD/TDD/Data-Driven/Mobile App Test) - GitHub (link): </a:t>
            </a: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https://github.com/gourav999</a:t>
            </a: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3" indent="-172765">
              <a:spcAft>
                <a:spcPts val="300"/>
              </a:spcAft>
            </a:pP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908F60E3-DF6F-2A5E-E081-FA1FE2D52F23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CFF2E5B-6223-53B1-3BEE-3EE2457076E7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D5147330-A199-5FEE-0AAB-923187629369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EFB6E2C4-351F-6C15-E05F-A5264AF16E90}"/>
              </a:ext>
            </a:extLst>
          </p:cNvPr>
          <p:cNvSpPr txBox="1">
            <a:spLocks/>
          </p:cNvSpPr>
          <p:nvPr/>
        </p:nvSpPr>
        <p:spPr>
          <a:xfrm>
            <a:off x="1222577" y="98349"/>
            <a:ext cx="10101572" cy="4431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u="sng" dirty="0">
                <a:hlinkClick r:id="rId8"/>
              </a:rPr>
              <a:t>AI Advocate-Associate Delivery Manager</a:t>
            </a:r>
            <a:endParaRPr lang="de-DE" sz="2400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9BD2538-A7AA-A228-7F64-7DCDEEC34ED8}"/>
              </a:ext>
            </a:extLst>
          </p:cNvPr>
          <p:cNvSpPr txBox="1">
            <a:spLocks/>
          </p:cNvSpPr>
          <p:nvPr/>
        </p:nvSpPr>
        <p:spPr>
          <a:xfrm>
            <a:off x="1226020" y="408896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accent2"/>
                </a:solidFill>
                <a:latin typeface="+mj-lt"/>
              </a:rPr>
              <a:t>Gourav jain</a:t>
            </a:r>
          </a:p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64454E2-2FDA-7BAC-F4F3-1180D400008F}"/>
              </a:ext>
            </a:extLst>
          </p:cNvPr>
          <p:cNvSpPr txBox="1">
            <a:spLocks/>
          </p:cNvSpPr>
          <p:nvPr/>
        </p:nvSpPr>
        <p:spPr>
          <a:xfrm>
            <a:off x="1422710" y="4434772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skill: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Delivery management.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skill: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Test Automation (Both UI  and Rest/SOAP Apis)</a:t>
            </a:r>
            <a:endParaRPr lang="de-DE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automation tools: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Playwright (microsoft),Selenium (4.0 Latest), Appium (V2.0-mobile app automation), Rest Assured, Postman (automation), Bruno, SOAPUI, Jest/Supertest, Pupteer, TOSCA, Cypress. 	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Prgramming language</a:t>
            </a:r>
            <a:r>
              <a:rPr lang="de-DE" sz="1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de-DE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Java, 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typescript, Python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Reporting: 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 BDD, Serenity, Allure, XSLT, HTML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DB-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DynamoDB, Postgres, MongoDB, SQL Server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tools: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Maven, Gradle. Jira, Git, Bitbucket. 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Devops: 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Jenkins, Github actions. 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(certifed developer assciate), MS Azure fundamentals(Certified), Azure DevOps. 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A5B19D6-8C96-81A4-D3A7-57D72D42957E}"/>
              </a:ext>
            </a:extLst>
          </p:cNvPr>
          <p:cNvSpPr txBox="1">
            <a:spLocks/>
          </p:cNvSpPr>
          <p:nvPr/>
        </p:nvSpPr>
        <p:spPr>
          <a:xfrm>
            <a:off x="124978" y="4437318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Salesforce/Software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(retail and mobile app)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SAP S4 HANA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863348D3-05C9-90AC-2139-7A8E988141FD}"/>
              </a:ext>
            </a:extLst>
          </p:cNvPr>
          <p:cNvSpPr txBox="1">
            <a:spLocks/>
          </p:cNvSpPr>
          <p:nvPr/>
        </p:nvSpPr>
        <p:spPr>
          <a:xfrm>
            <a:off x="4761496" y="664249"/>
            <a:ext cx="7220978" cy="5621964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53953" marR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7215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 Proj: Banking domain- Asso. Delivery Manager (Team size: 35+)- BNZ (Bank of New Zealand) [Jan 2022-till date]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Optimization: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initiatives that reduced operational expenses by 15-30%, enhancing profitability without compromising service quality.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Planning and Budget Management: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managed project budgets ranging from $1M to $3M, ensuring cost efficiency and strategic allocation of resources.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Growth Initiatives: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Spearheaded product and business strategies that contributed to a 3-7% increase in annual revenue, driving sustainable growth.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Leading the 3 pods of BNZ and responsible for E2E end deliverables. Led QA representation in QBR sessions for Financial Close Tribes.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1: Tech used: GitHub copilot, Playwright, Typescript, Java, Jenkins |Application: TFO| Domain: Wholesale banking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(UI Specific) Designed the UI automation by using Playwright with typescript.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Integration Testing: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automated tests by using Rest Assured, and BDD cucumber framework for API integrations between Salesforce and external systems, ensuring data integrity and system reliability.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2: Tech used: Jest-Supertest, Typescript, Splunk, Jenkins| Application: General insurance API| Domain: Insurance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(API Specific) Worked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jest-Supertest based framework along with typescript.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the API’s along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DynamoDB validation and CloudWatch logs validation.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3: Tech used: Selenium, java, Rest assured, Playwright, java, Jenkins | Application: Salesforce 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(Salesforce specific) Framework Development: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and implemented scalable test automation frameworks tailored for Salesforce applications, enhancing test efficiency and coverage.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the development of API automation strategies using Rest Assured, resulting in a significant reduction in manual testing efforts.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Cross-Cloud Expertise: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test automation projects across multiple Salesforce clouds, ensuring seamless integration and functionality.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Playwright Automation: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from Selenium to Playwright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faster execution and automation of test cases.</a:t>
            </a: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 - Senior test lead in UK HOME OFFICE (Remove illegal immigrants) [Dec 2018- April 2022]</a:t>
            </a:r>
            <a:endParaRPr lang="en-US" sz="1100" u="sng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the cucumber (BDD) with testing automation framework, using selenium webdriver, TestNG, POM, Allure reporting, and docker and Kubernetes on AWS environment. 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worked on the customization of the Automation framework using the concepts of cucumber-Google </a:t>
            </a:r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guice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dependency injection, JAVA 8/11.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of test execution to AWS, and using S3 bucket, docker, and Kubernetes.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involved in test merges, towards the complex environment and POC for supporting other vendors.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AWS concepts and completed certification. Learned advanced BDD concepts.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of test planning, test estimation, and traceability matrix, ensured that projects were delivered within the timeline, and guided testing teams in applying best practices.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(with devops team) the CI-CD using Bitbucket, Maven, and Jenkins as part of the daily deliverables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>
              <a:spcAft>
                <a:spcPts val="0"/>
              </a:spcAft>
              <a:tabLst>
                <a:tab pos="177800" algn="l"/>
              </a:tabLst>
              <a:defRPr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Placeholder 11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A3F06493-2FF2-4649-3FC7-FF25B59435E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11" r="2111"/>
          <a:stretch>
            <a:fillRect/>
          </a:stretch>
        </p:blipFill>
        <p:spPr>
          <a:xfrm>
            <a:off x="180567" y="105930"/>
            <a:ext cx="925219" cy="947784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3CB7D0D-DC04-48F9-25CE-847E826D082B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63B250-F354-9751-B06A-C67F0AAA30A3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02BEF0-63E8-C7B5-BBA2-D5DA1775C9C5}"/>
              </a:ext>
            </a:extLst>
          </p:cNvPr>
          <p:cNvSpPr txBox="1"/>
          <p:nvPr/>
        </p:nvSpPr>
        <p:spPr>
          <a:xfrm>
            <a:off x="1133763" y="548622"/>
            <a:ext cx="2307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Email: </a:t>
            </a:r>
            <a:r>
              <a:rPr lang="en-US" sz="1200" u="sng" dirty="0">
                <a:solidFill>
                  <a:schemeClr val="accent2">
                    <a:lumMod val="75000"/>
                  </a:schemeClr>
                </a:solidFill>
              </a:rPr>
              <a:t>Jaingourav999</a:t>
            </a:r>
            <a:r>
              <a:rPr lang="en-US" sz="1200" u="sng" dirty="0">
                <a:solidFill>
                  <a:schemeClr val="accent2">
                    <a:lumMod val="7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endParaRPr lang="en-US" sz="1200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Phone: +91-9601874688</a:t>
            </a:r>
          </a:p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  <a:hlinkClick r:id="rId8"/>
              </a:rPr>
              <a:t>LinkedIn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hlinkClick r:id="rId11"/>
              </a:rPr>
              <a:t>Blogs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hlinkClick r:id="rId7"/>
              </a:rPr>
              <a:t>GitHub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14983E-61ED-B50A-99F2-CA2092B9E0C6}"/>
              </a:ext>
            </a:extLst>
          </p:cNvPr>
          <p:cNvSpPr txBox="1"/>
          <p:nvPr/>
        </p:nvSpPr>
        <p:spPr>
          <a:xfrm>
            <a:off x="8504907" y="-32456"/>
            <a:ext cx="35065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Availability: Serving Notice period. LWD: 20</a:t>
            </a:r>
            <a:r>
              <a:rPr lang="en-US" sz="1100" b="1" baseline="30000" dirty="0"/>
              <a:t>th</a:t>
            </a:r>
            <a:r>
              <a:rPr lang="en-US" sz="1100" b="1" dirty="0"/>
              <a:t> May 2025</a:t>
            </a:r>
          </a:p>
        </p:txBody>
      </p:sp>
    </p:spTree>
    <p:extLst>
      <p:ext uri="{BB962C8B-B14F-4D97-AF65-F5344CB8AC3E}">
        <p14:creationId xmlns:p14="http://schemas.microsoft.com/office/powerpoint/2010/main" val="2336987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DF32-939A-51E4-4353-EAC71F35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nBodyText_ID_27664">
            <a:extLst>
              <a:ext uri="{FF2B5EF4-FFF2-40B4-BE49-F238E27FC236}">
                <a16:creationId xmlns:a16="http://schemas.microsoft.com/office/drawing/2014/main" id="{38CB80AB-6740-C523-B014-8B538AA1C250}"/>
              </a:ext>
            </a:extLst>
          </p:cNvPr>
          <p:cNvSpPr/>
          <p:nvPr/>
        </p:nvSpPr>
        <p:spPr>
          <a:xfrm>
            <a:off x="4862916" y="867165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(Accenture, 9 Years)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46AAA6-256D-FA7B-41C7-BB76ACF550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4B57BCE4-D415-9682-4CDD-ACDECF3D0E72}"/>
              </a:ext>
            </a:extLst>
          </p:cNvPr>
          <p:cNvCxnSpPr>
            <a:cxnSpLocks/>
          </p:cNvCxnSpPr>
          <p:nvPr/>
        </p:nvCxnSpPr>
        <p:spPr>
          <a:xfrm>
            <a:off x="4550623" y="599670"/>
            <a:ext cx="0" cy="6073298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9B585D-3113-CFFB-16B6-D17265D1406A}"/>
              </a:ext>
            </a:extLst>
          </p:cNvPr>
          <p:cNvSpPr txBox="1">
            <a:spLocks/>
          </p:cNvSpPr>
          <p:nvPr/>
        </p:nvSpPr>
        <p:spPr>
          <a:xfrm>
            <a:off x="381130" y="2238714"/>
            <a:ext cx="4019982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9775F03A-F7AC-958C-E473-7708E0E1186A}"/>
              </a:ext>
            </a:extLst>
          </p:cNvPr>
          <p:cNvSpPr txBox="1">
            <a:spLocks/>
          </p:cNvSpPr>
          <p:nvPr/>
        </p:nvSpPr>
        <p:spPr>
          <a:xfrm>
            <a:off x="252573" y="6216175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8F45F77F-B8FA-0E6A-2838-CBB158B92970}"/>
              </a:ext>
            </a:extLst>
          </p:cNvPr>
          <p:cNvSpPr txBox="1">
            <a:spLocks/>
          </p:cNvSpPr>
          <p:nvPr/>
        </p:nvSpPr>
        <p:spPr>
          <a:xfrm>
            <a:off x="303036" y="5159634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46E36880-A26F-3229-2A9B-3A8817D702F7}"/>
              </a:ext>
            </a:extLst>
          </p:cNvPr>
          <p:cNvSpPr txBox="1">
            <a:spLocks/>
          </p:cNvSpPr>
          <p:nvPr/>
        </p:nvSpPr>
        <p:spPr>
          <a:xfrm>
            <a:off x="2462582" y="5187985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E500EF0-2DF1-489E-1770-3968867D11D8}"/>
              </a:ext>
            </a:extLst>
          </p:cNvPr>
          <p:cNvSpPr txBox="1">
            <a:spLocks/>
          </p:cNvSpPr>
          <p:nvPr/>
        </p:nvSpPr>
        <p:spPr>
          <a:xfrm>
            <a:off x="1789523" y="1177777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D662691-66C5-1200-E512-FD15A4B733DA}"/>
              </a:ext>
            </a:extLst>
          </p:cNvPr>
          <p:cNvSpPr txBox="1">
            <a:spLocks/>
          </p:cNvSpPr>
          <p:nvPr/>
        </p:nvSpPr>
        <p:spPr>
          <a:xfrm>
            <a:off x="1498912" y="4857799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de-DE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AE4C4666-E2FB-611D-1512-E48AF117159D}"/>
              </a:ext>
            </a:extLst>
          </p:cNvPr>
          <p:cNvSpPr txBox="1">
            <a:spLocks/>
          </p:cNvSpPr>
          <p:nvPr/>
        </p:nvSpPr>
        <p:spPr>
          <a:xfrm>
            <a:off x="214507" y="4943478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3313FB-D83A-9D3A-F10F-7F5C8B09E07D}"/>
              </a:ext>
            </a:extLst>
          </p:cNvPr>
          <p:cNvSpPr txBox="1"/>
          <p:nvPr/>
        </p:nvSpPr>
        <p:spPr>
          <a:xfrm>
            <a:off x="2854518" y="14855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E056E6-7429-3482-D786-588F33C369B5}"/>
              </a:ext>
            </a:extLst>
          </p:cNvPr>
          <p:cNvSpPr txBox="1"/>
          <p:nvPr/>
        </p:nvSpPr>
        <p:spPr>
          <a:xfrm>
            <a:off x="2854518" y="14855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FA5C3D-3094-CF66-E9ED-0582B0134F90}"/>
              </a:ext>
            </a:extLst>
          </p:cNvPr>
          <p:cNvSpPr txBox="1">
            <a:spLocks/>
          </p:cNvSpPr>
          <p:nvPr/>
        </p:nvSpPr>
        <p:spPr>
          <a:xfrm>
            <a:off x="612802" y="2632991"/>
            <a:ext cx="3165300" cy="255499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372B61B-0DD6-0CF6-F86B-4BBC6EFF0AC1}"/>
              </a:ext>
            </a:extLst>
          </p:cNvPr>
          <p:cNvSpPr txBox="1">
            <a:spLocks/>
          </p:cNvSpPr>
          <p:nvPr/>
        </p:nvSpPr>
        <p:spPr>
          <a:xfrm>
            <a:off x="356030" y="259162"/>
            <a:ext cx="3082221" cy="46141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Certifications/Achievements, Total exp 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https://www.linkedin.com/in/jaingourav999/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ABBDE-DEB5-0E6F-F288-AD00D6583973}"/>
              </a:ext>
            </a:extLst>
          </p:cNvPr>
          <p:cNvSpPr txBox="1"/>
          <p:nvPr/>
        </p:nvSpPr>
        <p:spPr>
          <a:xfrm>
            <a:off x="503274" y="1205709"/>
            <a:ext cx="3530001" cy="142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8CAB5-893E-9881-935B-94732B4E5CE1}"/>
              </a:ext>
            </a:extLst>
          </p:cNvPr>
          <p:cNvSpPr txBox="1"/>
          <p:nvPr/>
        </p:nvSpPr>
        <p:spPr>
          <a:xfrm>
            <a:off x="4804772" y="1008831"/>
            <a:ext cx="7008787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 domain- (B2B) Test Associate Manager in Adidas and Dyson project [April 2021-December 2021]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application automation by using selenium with Python. API testing by Rest assured with java.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a team of 10 people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providing guidance and direction to achieve goals.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critical 316 P1 test cases out of 515 within this duration. Used Azure devops for test cases, User stories, and Automation pipeline.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Understood B2B concepts. Applied more Selenium action classes to automate.</a:t>
            </a:r>
          </a:p>
          <a:p>
            <a:pPr marL="53953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domain - Senior Test Analyst in </a:t>
            </a:r>
            <a:r>
              <a:rPr kumimoji="0" lang="en-US" sz="1100" b="1" i="0" u="sng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Commzerbank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Frankfurt Germany [Jan 2016-Dec 2018]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Mobile Apps with TDD (Appium &amp; Java):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mobile app automation initiatives using Appium and a Java-based BDD framework, TestNG, Jenkins and ensuring robust and maintainable test suites. </a:t>
            </a:r>
          </a:p>
          <a:p>
            <a:pPr marL="225403" indent="-171450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Worked on SEPA (Payments),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GPPIP (Instant), GPPHC (High Care)</a:t>
            </a: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GPPMP (mass payments) and SWIFT Gateway.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Catalyst: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Actively fostered knowledge sharing within the team by conducting mobile app automation training sessions.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automation test coverage from 20% to ~</a:t>
            </a: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A64B0D-2EF3-E9B2-1403-AA4C0F299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578826"/>
              </p:ext>
            </p:extLst>
          </p:nvPr>
        </p:nvGraphicFramePr>
        <p:xfrm>
          <a:off x="408740" y="689670"/>
          <a:ext cx="3964761" cy="18691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083">
                  <a:extLst>
                    <a:ext uri="{9D8B030D-6E8A-4147-A177-3AD203B41FA5}">
                      <a16:colId xmlns:a16="http://schemas.microsoft.com/office/drawing/2014/main" val="2221999178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2852050472"/>
                    </a:ext>
                  </a:extLst>
                </a:gridCol>
                <a:gridCol w="1321587">
                  <a:extLst>
                    <a:ext uri="{9D8B030D-6E8A-4147-A177-3AD203B41FA5}">
                      <a16:colId xmlns:a16="http://schemas.microsoft.com/office/drawing/2014/main" val="3687725787"/>
                    </a:ext>
                  </a:extLst>
                </a:gridCol>
              </a:tblGrid>
              <a:tr h="3385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47162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Associate QA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Accenture, Pune </a:t>
                      </a:r>
                      <a:r>
                        <a:rPr lang="en-US" sz="1100"/>
                        <a:t>(MH, India</a:t>
                      </a:r>
                      <a:r>
                        <a:rPr lang="en-US" sz="11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2015-till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5244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Senior QA (level-1)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eInfochips(Ahmedabad, Gujarat, 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Jan 2013-Oct 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8047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AMD,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2011-Nov 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32081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EA Games,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2010-Oct 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2518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DBCD5B8-1598-FBA4-3F62-802CB2A6E053}"/>
              </a:ext>
            </a:extLst>
          </p:cNvPr>
          <p:cNvSpPr txBox="1"/>
          <p:nvPr/>
        </p:nvSpPr>
        <p:spPr>
          <a:xfrm>
            <a:off x="4744321" y="3565120"/>
            <a:ext cx="622831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QA Engineer (level-1)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DirectBuy test automation by using selenium and java.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testing of Salesforce, Desktop application and Hardware devices/embedded devices.</a:t>
            </a:r>
          </a:p>
          <a:p>
            <a:endParaRPr lang="en-US" dirty="0"/>
          </a:p>
        </p:txBody>
      </p:sp>
      <p:sp>
        <p:nvSpPr>
          <p:cNvPr id="13" name="AcnBodyText_ID_27664">
            <a:extLst>
              <a:ext uri="{FF2B5EF4-FFF2-40B4-BE49-F238E27FC236}">
                <a16:creationId xmlns:a16="http://schemas.microsoft.com/office/drawing/2014/main" id="{C2A7F56D-7E60-8146-2D71-2983AE4E0634}"/>
              </a:ext>
            </a:extLst>
          </p:cNvPr>
          <p:cNvSpPr/>
          <p:nvPr/>
        </p:nvSpPr>
        <p:spPr>
          <a:xfrm>
            <a:off x="4769630" y="3461798"/>
            <a:ext cx="5307819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(eInfochips- Jan 2013 to Oct 2015)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5AC34-068B-3E79-E26F-5FDF5A2C7DAF}"/>
              </a:ext>
            </a:extLst>
          </p:cNvPr>
          <p:cNvSpPr txBox="1"/>
          <p:nvPr/>
        </p:nvSpPr>
        <p:spPr>
          <a:xfrm>
            <a:off x="4771532" y="4387942"/>
            <a:ext cx="622831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QA Tester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Game tester on J2ME devices and Apple devices (iPhone and iPads)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AMD developed GPU Tester (functional and performance tester)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19" name="AcnBodyText_ID_27664">
            <a:extLst>
              <a:ext uri="{FF2B5EF4-FFF2-40B4-BE49-F238E27FC236}">
                <a16:creationId xmlns:a16="http://schemas.microsoft.com/office/drawing/2014/main" id="{189CC5D4-296A-ABEA-52AB-B58CEA9CD6F0}"/>
              </a:ext>
            </a:extLst>
          </p:cNvPr>
          <p:cNvSpPr/>
          <p:nvPr/>
        </p:nvSpPr>
        <p:spPr>
          <a:xfrm>
            <a:off x="4769630" y="4203927"/>
            <a:ext cx="6020223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(EA Games and AMD</a:t>
            </a:r>
            <a:r>
              <a:rPr lang="en-US" sz="1200" b="1" kern="0" dirty="0">
                <a:solidFill>
                  <a:schemeClr val="accent3"/>
                </a:solidFill>
                <a:latin typeface="Arial Black (Headings)"/>
                <a:ea typeface="SimSun" pitchFamily="2"/>
                <a:cs typeface="Arial" panose="020B0604020202020204" pitchFamily="34" charset="0"/>
              </a:rPr>
              <a:t>, May 2020 to Nov 2012</a:t>
            </a: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BCF266-4746-5CCC-F731-1C311CB2EE6C}"/>
              </a:ext>
            </a:extLst>
          </p:cNvPr>
          <p:cNvSpPr txBox="1"/>
          <p:nvPr/>
        </p:nvSpPr>
        <p:spPr>
          <a:xfrm>
            <a:off x="214507" y="2707114"/>
            <a:ext cx="4158994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strike="noStrike" baseline="0" dirty="0">
                <a:solidFill>
                  <a:srgbClr val="EC7C30"/>
                </a:solidFill>
                <a:latin typeface="Calibri" panose="020F0502020204030204" pitchFamily="34" charset="0"/>
              </a:rPr>
              <a:t>Roles and Responsibilities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Good knowledge of cloud technology and migrating the test code from the on-premise platform to the cloud.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Sound knowledge of third-party tools called </a:t>
            </a:r>
            <a:r>
              <a:rPr lang="en-US" sz="11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Saucelabs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Lamdatest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 comprehensive test strategy and test plan that outlines the testing objectives, scope, and approach, defining test environments, test schedules, resource allocations, and test deliverables.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and providing the dashboard to clients (especially APAC and UK regions) by 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using </a:t>
            </a:r>
            <a:r>
              <a:rPr lang="en-US" sz="1100" b="1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Power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BI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MS Excel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Building and leading the team of QA, assigning tasks, and managing their workloads, providing guidance and mentoring to the team members, and promoting collaborative and productive work environments.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Estimating the testing efforts, resources, and budget required for the project.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Establishing appropriate test metrics, and KPIs to measure the effectiveness and efficiency of the testing process. </a:t>
            </a:r>
          </a:p>
          <a:p>
            <a:endParaRPr lang="en-US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57B6F2-C50E-8CD5-84C3-7B68581D3592}"/>
              </a:ext>
            </a:extLst>
          </p:cNvPr>
          <p:cNvSpPr txBox="1"/>
          <p:nvPr/>
        </p:nvSpPr>
        <p:spPr>
          <a:xfrm>
            <a:off x="4693856" y="4927868"/>
            <a:ext cx="60960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EC7C3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Managerial skills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One of the Lead Mentors for new joiners in Accenture India DU.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 in identifying and analyzing the risks and their potential business impact to determine proper prioritization of the testing activities.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Having experience of 2 years as a scrum master. Strong experience in creating Kanban board, Metrix, dashboards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JIRA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Confluence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TFS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test case management tools, and version management software.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Experienced QA Lead on-shore and off-shore teams, including hiring, mentoring, and performance appraisals.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Support to manager for creating the RFP documents.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Actively involved in CSR activities, NGO donations, women empowerment, and supporting the LGBTIQ+ community in workplaces, along with Fun activities in the team.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51DCF-2CD9-259D-924A-B8DFE9312696}"/>
              </a:ext>
            </a:extLst>
          </p:cNvPr>
          <p:cNvSpPr txBox="1"/>
          <p:nvPr/>
        </p:nvSpPr>
        <p:spPr>
          <a:xfrm>
            <a:off x="4837691" y="275350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Lead in UK HOME OFFICE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Microservices testing via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SOAPUI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groovy script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used Jenkins for CI/CD.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of Rest API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assured. </a:t>
            </a:r>
          </a:p>
        </p:txBody>
      </p:sp>
    </p:spTree>
    <p:extLst>
      <p:ext uri="{BB962C8B-B14F-4D97-AF65-F5344CB8AC3E}">
        <p14:creationId xmlns:p14="http://schemas.microsoft.com/office/powerpoint/2010/main" val="692814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1549</Words>
  <Application>Microsoft Office PowerPoint</Application>
  <PresentationFormat>Widescreen</PresentationFormat>
  <Paragraphs>131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 (Headings)</vt:lpstr>
      <vt:lpstr>Calibri</vt:lpstr>
      <vt:lpstr>Calibri Light</vt:lpstr>
      <vt:lpstr>Graphik Light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Sarin</dc:creator>
  <cp:lastModifiedBy>Jain, Gourav B.</cp:lastModifiedBy>
  <cp:revision>123</cp:revision>
  <dcterms:created xsi:type="dcterms:W3CDTF">2023-02-08T14:25:43Z</dcterms:created>
  <dcterms:modified xsi:type="dcterms:W3CDTF">2025-04-29T06:32:56Z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0daab4-b646-43ae-ac6e-8cb22112916e_Enabled">
    <vt:lpwstr>true</vt:lpwstr>
  </property>
  <property fmtid="{D5CDD505-2E9C-101B-9397-08002B2CF9AE}" pid="3" name="MSIP_Label_4b0daab4-b646-43ae-ac6e-8cb22112916e_SetDate">
    <vt:lpwstr>2024-01-02T10:58:12Z</vt:lpwstr>
  </property>
  <property fmtid="{D5CDD505-2E9C-101B-9397-08002B2CF9AE}" pid="4" name="MSIP_Label_4b0daab4-b646-43ae-ac6e-8cb22112916e_Method">
    <vt:lpwstr>Privileged</vt:lpwstr>
  </property>
  <property fmtid="{D5CDD505-2E9C-101B-9397-08002B2CF9AE}" pid="5" name="MSIP_Label_4b0daab4-b646-43ae-ac6e-8cb22112916e_Name">
    <vt:lpwstr>4b0daab4-b646-43ae-ac6e-8cb22112916e</vt:lpwstr>
  </property>
  <property fmtid="{D5CDD505-2E9C-101B-9397-08002B2CF9AE}" pid="6" name="MSIP_Label_4b0daab4-b646-43ae-ac6e-8cb22112916e_SiteId">
    <vt:lpwstr>b6e8236b-ceb2-401d-9169-2917d0b07d48</vt:lpwstr>
  </property>
  <property fmtid="{D5CDD505-2E9C-101B-9397-08002B2CF9AE}" pid="7" name="MSIP_Label_4b0daab4-b646-43ae-ac6e-8cb22112916e_ActionId">
    <vt:lpwstr>d1d23d40-00ff-4558-bc28-7f3ef2f6eb6a</vt:lpwstr>
  </property>
  <property fmtid="{D5CDD505-2E9C-101B-9397-08002B2CF9AE}" pid="8" name="MSIP_Label_4b0daab4-b646-43ae-ac6e-8cb22112916e_ContentBits">
    <vt:lpwstr>0</vt:lpwstr>
  </property>
</Properties>
</file>