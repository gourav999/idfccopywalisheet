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3" r:id="rId2"/>
    <p:sldId id="21474705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>
        <p:scale>
          <a:sx n="100" d="100"/>
          <a:sy n="100" d="100"/>
        </p:scale>
        <p:origin x="48" y="-4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34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A204-18CD-B5CD-B248-BC19E58B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81A87-C9B2-1E05-8C0B-4DE1B3CFB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788D8-1E97-3D26-B37B-3F724CEC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F10E3-2A98-F18E-21F0-C3377F27A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6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linkedin.com/in/jaingourav999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github.com/gourav999" TargetMode="External"/><Relationship Id="rId5" Type="http://schemas.openxmlformats.org/officeDocument/2006/relationships/image" Target="../media/image1.emf"/><Relationship Id="rId10" Type="http://schemas.openxmlformats.org/officeDocument/2006/relationships/hyperlink" Target="https://jaingourav999.blogspot.com/" TargetMode="External"/><Relationship Id="rId4" Type="http://schemas.openxmlformats.org/officeDocument/2006/relationships/oleObject" Target="../embeddings/oleObject1.bin"/><Relationship Id="rId9" Type="http://schemas.openxmlformats.org/officeDocument/2006/relationships/hyperlink" Target="mailto:Gourav.b.jain@accenture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6E3F57-1658-4DC3-A620-01E67AD0F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11677FBE-2497-D4EB-10E6-6C9E112268C2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E6FDE29B-B8F5-595F-AFF8-5FCD61A3DC3A}"/>
              </a:ext>
            </a:extLst>
          </p:cNvPr>
          <p:cNvSpPr/>
          <p:nvPr/>
        </p:nvSpPr>
        <p:spPr>
          <a:xfrm>
            <a:off x="4833083" y="471437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DECC325F-0ECC-0479-C3C5-564E94EA8A07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905E5D0-EE1C-BC89-3E14-DD6A094D689B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F104456C-B618-39E3-5C79-DD9EB05F1DF3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982DC8-3F54-B864-7B01-F2FE4A57A93D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14+ yrs. Designation: QA Engineering Architect/Manager. </a:t>
            </a:r>
            <a:endParaRPr lang="en-US" sz="11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lang="en-US" sz="11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Copilot, Testim.io, Tabnine.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Leveraged AI tools (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</a:rPr>
              <a:t>GitHub</a:t>
            </a: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 Copilot &amp; Tabnine) to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automate 70% of test code generation</a:t>
            </a: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, boosting productivity by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65%. 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GitHub.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08F60E3-DF6F-2A5E-E081-FA1FE2D52F23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CFF2E5B-6223-53B1-3BEE-3EE2457076E7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D5147330-A199-5FEE-0AAB-92318762936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EFB6E2C4-351F-6C15-E05F-A5264AF16E90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u="sng" dirty="0">
                <a:hlinkClick r:id="rId7"/>
              </a:rPr>
              <a:t>AI Advocate Test Engineering Associate Manager</a:t>
            </a:r>
            <a:r>
              <a:rPr lang="en-US" sz="2400" u="sng" dirty="0">
                <a:solidFill>
                  <a:schemeClr val="accent1"/>
                </a:solidFill>
              </a:rPr>
              <a:t>/Architect</a:t>
            </a:r>
            <a:endParaRPr lang="de-DE" sz="2400" u="sng" dirty="0">
              <a:solidFill>
                <a:schemeClr val="accent1"/>
              </a:solidFill>
            </a:endParaRPr>
          </a:p>
          <a:p>
            <a:endParaRPr lang="de-DE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9BD2538-A7AA-A228-7F64-7DCDEEC34ED8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2"/>
                </a:solidFill>
                <a:latin typeface="+mj-lt"/>
              </a:rPr>
              <a:t>Gourav jain</a:t>
            </a:r>
          </a:p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64454E2-2FDA-7BAC-F4F3-1180D400008F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lang="de-D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>
              <a:spcAft>
                <a:spcPts val="300"/>
              </a:spcAft>
            </a:pP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A5B19D6-8C96-81A4-D3A7-57D72D42957E}"/>
              </a:ext>
            </a:extLst>
          </p:cNvPr>
          <p:cNvSpPr txBox="1">
            <a:spLocks/>
          </p:cNvSpPr>
          <p:nvPr/>
        </p:nvSpPr>
        <p:spPr>
          <a:xfrm>
            <a:off x="108177" y="4619580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63348D3-05C9-90AC-2139-7A8E988141FD}"/>
              </a:ext>
            </a:extLst>
          </p:cNvPr>
          <p:cNvSpPr txBox="1">
            <a:spLocks/>
          </p:cNvSpPr>
          <p:nvPr/>
        </p:nvSpPr>
        <p:spPr>
          <a:xfrm>
            <a:off x="4782760" y="673226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2022-till date]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>
              <a:spcAft>
                <a:spcPts val="0"/>
              </a:spcAft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11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lang="en-US" sz="1150" b="1" u="sng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lang="en-US" sz="11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 automation</a:t>
            </a: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using selenium with Python. API testing by Rest assured with java.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devops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b="1" u="sng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lang="en-US" sz="1100" u="sng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>
              <a:spcAft>
                <a:spcPts val="0"/>
              </a:spcAft>
              <a:tabLst>
                <a:tab pos="177800" algn="l"/>
              </a:tabLst>
              <a:defRPr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A3F06493-2FF2-4649-3FC7-FF25B59435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1" r="2111"/>
          <a:stretch>
            <a:fillRect/>
          </a:stretch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CB7D0D-DC04-48F9-25CE-847E826D082B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3B250-F354-9751-B06A-C67F0AAA30A3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02BEF0-63E8-C7B5-BBA2-D5DA1775C9C5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B97E1-DDAE-AA8C-DF56-1FFE45D1265D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Email: 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</a:rPr>
              <a:t>Jaingourav999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lang="en-US" sz="1200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Phone: +91-9601874688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7"/>
              </a:rPr>
              <a:t>LinkedIn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10"/>
              </a:rPr>
              <a:t>Blogs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11"/>
              </a:rPr>
              <a:t>GitHub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139F7-60E8-4BAF-1AD2-BE6E07AFC240}"/>
              </a:ext>
            </a:extLst>
          </p:cNvPr>
          <p:cNvSpPr txBox="1"/>
          <p:nvPr/>
        </p:nvSpPr>
        <p:spPr>
          <a:xfrm>
            <a:off x="8504907" y="-32456"/>
            <a:ext cx="3506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Availability: Serving Notice period. LWD: 20</a:t>
            </a:r>
            <a:r>
              <a:rPr lang="en-US" sz="1100" b="1" baseline="30000" dirty="0"/>
              <a:t>th</a:t>
            </a:r>
            <a:r>
              <a:rPr lang="en-US" sz="1100" b="1" dirty="0"/>
              <a:t> May 2025</a:t>
            </a:r>
          </a:p>
        </p:txBody>
      </p:sp>
    </p:spTree>
    <p:extLst>
      <p:ext uri="{BB962C8B-B14F-4D97-AF65-F5344CB8AC3E}">
        <p14:creationId xmlns:p14="http://schemas.microsoft.com/office/powerpoint/2010/main" val="23369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DF32-939A-51E4-4353-EAC71F35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46AAA6-256D-FA7B-41C7-BB76ACF550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4B57BCE4-D415-9682-4CDD-ACDECF3D0E72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B585D-3113-CFFB-16B6-D17265D1406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775F03A-F7AC-958C-E473-7708E0E1186A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8F45F77F-B8FA-0E6A-2838-CBB158B92970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46E36880-A26F-3229-2A9B-3A8817D702F7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E500EF0-2DF1-489E-1770-3968867D11D8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D662691-66C5-1200-E512-FD15A4B733DA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E4C4666-E2FB-611D-1512-E48AF117159D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3313FB-D83A-9D3A-F10F-7F5C8B09E07D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E056E6-7429-3482-D786-588F33C369B5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FA5C3D-3094-CF66-E9ED-0582B0134F90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372B61B-0DD6-0CF6-F86B-4BBC6EFF0AC1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BBDE-DEB5-0E6F-F288-AD00D6583973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8CAB5-893E-9881-935B-94732B4E5CE1}"/>
              </a:ext>
            </a:extLst>
          </p:cNvPr>
          <p:cNvSpPr txBox="1"/>
          <p:nvPr/>
        </p:nvSpPr>
        <p:spPr>
          <a:xfrm>
            <a:off x="4744321" y="1317656"/>
            <a:ext cx="700878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domain - Senior Test Analyst in Commerzbank, Frankfurt Germany [Jan 2016-Dec 2018]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Mobile Apps with TDD (Appium &amp; Java):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mobile app automation initiatives using Appium and a Java-based BDD framework, TestNG, Jenkins and ensuring robust and maintainable test suites.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Worked on SEPA (Payments),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GPPIP (Instant), GPPHC (High Care)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GPPMP (mass payments) and SWIFT Gateway.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Catalyst: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Actively fostered knowledge sharing within the team by conducting mobile app automation training sessions.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 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Learned Appium.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automation test coverage from 20% to ~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A64B0D-2EF3-E9B2-1403-AA4C0F299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493079"/>
              </p:ext>
            </p:extLst>
          </p:nvPr>
        </p:nvGraphicFramePr>
        <p:xfrm>
          <a:off x="408740" y="787636"/>
          <a:ext cx="3964761" cy="18691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2015-till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BCD5B8-1598-FBA4-3F62-802CB2A6E053}"/>
              </a:ext>
            </a:extLst>
          </p:cNvPr>
          <p:cNvSpPr txBox="1"/>
          <p:nvPr/>
        </p:nvSpPr>
        <p:spPr>
          <a:xfrm>
            <a:off x="4753465" y="3285566"/>
            <a:ext cx="622831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Engineer (level-1)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DirectBuy test automation by using selenium(v3.x) and java.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testing of Salesforce, Desktop application and Hardware devices/embedded devices.</a:t>
            </a:r>
          </a:p>
          <a:p>
            <a:endParaRPr lang="en-US" dirty="0"/>
          </a:p>
        </p:txBody>
      </p:sp>
      <p:sp>
        <p:nvSpPr>
          <p:cNvPr id="13" name="AcnBodyText_ID_27664">
            <a:extLst>
              <a:ext uri="{FF2B5EF4-FFF2-40B4-BE49-F238E27FC236}">
                <a16:creationId xmlns:a16="http://schemas.microsoft.com/office/drawing/2014/main" id="{C2A7F56D-7E60-8146-2D71-2983AE4E0634}"/>
              </a:ext>
            </a:extLst>
          </p:cNvPr>
          <p:cNvSpPr/>
          <p:nvPr/>
        </p:nvSpPr>
        <p:spPr>
          <a:xfrm>
            <a:off x="4769630" y="3049149"/>
            <a:ext cx="5307819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(eInfochips- Jan 2013 to Oct 2015)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5AC34-068B-3E79-E26F-5FDF5A2C7DAF}"/>
              </a:ext>
            </a:extLst>
          </p:cNvPr>
          <p:cNvSpPr txBox="1"/>
          <p:nvPr/>
        </p:nvSpPr>
        <p:spPr>
          <a:xfrm>
            <a:off x="4771532" y="4167170"/>
            <a:ext cx="622831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Tester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Game tester on J2ME devices and Apple devices (iPhone and iPads)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AMD developed GPU Tester (functional and performance tester)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9" name="AcnBodyText_ID_27664">
            <a:extLst>
              <a:ext uri="{FF2B5EF4-FFF2-40B4-BE49-F238E27FC236}">
                <a16:creationId xmlns:a16="http://schemas.microsoft.com/office/drawing/2014/main" id="{189CC5D4-296A-ABEA-52AB-B58CEA9CD6F0}"/>
              </a:ext>
            </a:extLst>
          </p:cNvPr>
          <p:cNvSpPr/>
          <p:nvPr/>
        </p:nvSpPr>
        <p:spPr>
          <a:xfrm>
            <a:off x="4769630" y="3913488"/>
            <a:ext cx="6020223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(EA Games and AMD</a:t>
            </a:r>
            <a:r>
              <a:rPr lang="en-US" sz="1200" b="1" kern="0" dirty="0">
                <a:solidFill>
                  <a:schemeClr val="accent3"/>
                </a:solidFill>
                <a:latin typeface="Arial Black (Headings)"/>
                <a:ea typeface="SimSun" pitchFamily="2"/>
                <a:cs typeface="Arial" panose="020B0604020202020204" pitchFamily="34" charset="0"/>
              </a:rPr>
              <a:t>, May 2020 to Nov 2012</a:t>
            </a: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CF266-4746-5CCC-F731-1C311CB2EE6C}"/>
              </a:ext>
            </a:extLst>
          </p:cNvPr>
          <p:cNvSpPr txBox="1"/>
          <p:nvPr/>
        </p:nvSpPr>
        <p:spPr>
          <a:xfrm>
            <a:off x="214507" y="280508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57B6F2-C50E-8CD5-84C3-7B68581D3592}"/>
              </a:ext>
            </a:extLst>
          </p:cNvPr>
          <p:cNvSpPr txBox="1"/>
          <p:nvPr/>
        </p:nvSpPr>
        <p:spPr>
          <a:xfrm>
            <a:off x="4794440" y="4713631"/>
            <a:ext cx="6096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F69FF-9394-0CF4-7CF2-9C0447D8C454}"/>
              </a:ext>
            </a:extLst>
          </p:cNvPr>
          <p:cNvSpPr txBox="1"/>
          <p:nvPr/>
        </p:nvSpPr>
        <p:spPr>
          <a:xfrm>
            <a:off x="4721400" y="349043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81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1444</Words>
  <Application>Microsoft Office PowerPoint</Application>
  <PresentationFormat>Widescreen</PresentationFormat>
  <Paragraphs>125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 B.</cp:lastModifiedBy>
  <cp:revision>155</cp:revision>
  <dcterms:created xsi:type="dcterms:W3CDTF">2023-02-08T14:25:43Z</dcterms:created>
  <dcterms:modified xsi:type="dcterms:W3CDTF">2025-04-29T06:28:02Z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