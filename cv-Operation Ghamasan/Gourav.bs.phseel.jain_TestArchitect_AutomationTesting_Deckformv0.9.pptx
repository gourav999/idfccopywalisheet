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593" r:id="rId2"/>
    <p:sldId id="214747059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>
        <p:scale>
          <a:sx n="70" d="100"/>
          <a:sy n="70" d="100"/>
        </p:scale>
        <p:origin x="892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34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A204-18CD-B5CD-B248-BC19E58B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81A87-C9B2-1E05-8C0B-4DE1B3CFB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788D8-1E97-3D26-B37B-3F724CECE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F10E3-2A98-F18E-21F0-C3377F27A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6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notesSlide" Target="../notesSlides/notesSlide1.xml"/><Relationship Id="rId7" Type="http://schemas.openxmlformats.org/officeDocument/2006/relationships/hyperlink" Target="https://www.linkedin.com/in/jaingourav999/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github.com/gourav999" TargetMode="External"/><Relationship Id="rId5" Type="http://schemas.openxmlformats.org/officeDocument/2006/relationships/image" Target="../media/image1.emf"/><Relationship Id="rId10" Type="http://schemas.openxmlformats.org/officeDocument/2006/relationships/hyperlink" Target="https://jaingourav999.blogspot.com/" TargetMode="External"/><Relationship Id="rId4" Type="http://schemas.openxmlformats.org/officeDocument/2006/relationships/oleObject" Target="../embeddings/oleObject1.bin"/><Relationship Id="rId9" Type="http://schemas.openxmlformats.org/officeDocument/2006/relationships/hyperlink" Target="mailto:Gourav.b.jain@accenture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D6E3F57-1658-4DC3-A620-01E67AD0FC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11677FBE-2497-D4EB-10E6-6C9E112268C2}"/>
              </a:ext>
            </a:extLst>
          </p:cNvPr>
          <p:cNvSpPr/>
          <p:nvPr/>
        </p:nvSpPr>
        <p:spPr>
          <a:xfrm>
            <a:off x="188224" y="1287944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E6FDE29B-B8F5-595F-AFF8-5FCD61A3DC3A}"/>
              </a:ext>
            </a:extLst>
          </p:cNvPr>
          <p:cNvSpPr/>
          <p:nvPr/>
        </p:nvSpPr>
        <p:spPr>
          <a:xfrm>
            <a:off x="4811818" y="647695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DECC325F-0ECC-0479-C3C5-564E94EA8A07}"/>
              </a:ext>
            </a:extLst>
          </p:cNvPr>
          <p:cNvCxnSpPr>
            <a:cxnSpLocks/>
          </p:cNvCxnSpPr>
          <p:nvPr/>
        </p:nvCxnSpPr>
        <p:spPr>
          <a:xfrm>
            <a:off x="4691998" y="956733"/>
            <a:ext cx="0" cy="543428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905E5D0-EE1C-BC89-3E14-DD6A094D689B}"/>
              </a:ext>
            </a:extLst>
          </p:cNvPr>
          <p:cNvSpPr/>
          <p:nvPr/>
        </p:nvSpPr>
        <p:spPr>
          <a:xfrm>
            <a:off x="291044" y="4277487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kern="0" dirty="0">
                <a:solidFill>
                  <a:srgbClr val="000000"/>
                </a:solidFill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F104456C-B618-39E3-5C79-DD9EB05F1DF3}"/>
              </a:ext>
            </a:extLst>
          </p:cNvPr>
          <p:cNvSpPr/>
          <p:nvPr/>
        </p:nvSpPr>
        <p:spPr>
          <a:xfrm>
            <a:off x="2042058" y="4240476"/>
            <a:ext cx="2144650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kern="0" dirty="0">
                <a:solidFill>
                  <a:srgbClr val="000000"/>
                </a:solidFill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982DC8-3F54-B864-7B01-F2FE4A57A93D}"/>
              </a:ext>
            </a:extLst>
          </p:cNvPr>
          <p:cNvSpPr txBox="1">
            <a:spLocks/>
          </p:cNvSpPr>
          <p:nvPr/>
        </p:nvSpPr>
        <p:spPr>
          <a:xfrm>
            <a:off x="-15477" y="1412722"/>
            <a:ext cx="4700767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Gourav has around 14+ years of experience in Software Testing currently working as ‘test automation architect in Accenture’.</a:t>
            </a:r>
          </a:p>
          <a:p>
            <a:pPr marL="171450" indent="-171450">
              <a:spcAft>
                <a:spcPts val="300"/>
              </a:spcAft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GitHub Copilot, Testim.io, Tabnine.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0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Leveraged AI tools (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</a:rPr>
              <a:t>GitHub</a:t>
            </a:r>
            <a:r>
              <a:rPr lang="en-US" sz="1150" b="0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 Copilot &amp; Tabnine) to </a:t>
            </a:r>
            <a:r>
              <a:rPr lang="en-US" sz="1150" b="1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automate 70% of test code generation</a:t>
            </a:r>
            <a:r>
              <a:rPr lang="en-US" sz="1150" b="0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, boosting productivity by </a:t>
            </a:r>
            <a:r>
              <a:rPr lang="en-US" sz="1150" b="1" i="0" u="none" strike="noStrike" baseline="0" dirty="0">
                <a:solidFill>
                  <a:srgbClr val="1F1F1F"/>
                </a:solidFill>
                <a:latin typeface="Calibri" panose="020F0502020204030204" pitchFamily="34" charset="0"/>
              </a:rPr>
              <a:t>65%. 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specific certifications: Certified DFA (Delivery foundation academy-4.0), PMFS (Project management foundation school), </a:t>
            </a: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Leadership</a:t>
            </a: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  and can be found on GitHub.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908F60E3-DF6F-2A5E-E081-FA1FE2D52F23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CFF2E5B-6223-53B1-3BEE-3EE2457076E7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D5147330-A199-5FEE-0AAB-923187629369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EFB6E2C4-351F-6C15-E05F-A5264AF16E90}"/>
              </a:ext>
            </a:extLst>
          </p:cNvPr>
          <p:cNvSpPr txBox="1">
            <a:spLocks/>
          </p:cNvSpPr>
          <p:nvPr/>
        </p:nvSpPr>
        <p:spPr>
          <a:xfrm>
            <a:off x="1293586" y="143256"/>
            <a:ext cx="7349668" cy="3125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0563C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Advocate - Test Engineering Associate Manage</a:t>
            </a:r>
            <a:r>
              <a:rPr lang="en-US" sz="2400" u="sng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US" sz="2400" u="sng" dirty="0">
                <a:solidFill>
                  <a:schemeClr val="accent1"/>
                </a:solidFill>
              </a:rPr>
              <a:t>/Architect</a:t>
            </a:r>
            <a:endParaRPr lang="de-DE" sz="2400" u="sng" dirty="0">
              <a:solidFill>
                <a:schemeClr val="accent1"/>
              </a:solidFill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9BD2538-A7AA-A228-7F64-7DCDEEC34ED8}"/>
              </a:ext>
            </a:extLst>
          </p:cNvPr>
          <p:cNvSpPr txBox="1">
            <a:spLocks/>
          </p:cNvSpPr>
          <p:nvPr/>
        </p:nvSpPr>
        <p:spPr>
          <a:xfrm>
            <a:off x="1288778" y="455829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accent2"/>
                </a:solidFill>
                <a:latin typeface="+mj-lt"/>
              </a:rPr>
              <a:t>Gourav jain</a:t>
            </a:r>
          </a:p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64454E2-2FDA-7BAC-F4F3-1180D400008F}"/>
              </a:ext>
            </a:extLst>
          </p:cNvPr>
          <p:cNvSpPr txBox="1">
            <a:spLocks/>
          </p:cNvSpPr>
          <p:nvPr/>
        </p:nvSpPr>
        <p:spPr>
          <a:xfrm>
            <a:off x="1410012" y="4498802"/>
            <a:ext cx="3263381" cy="1682315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Architect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Test Automation (Both UI  and Rest/SOAP Apis)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java, typescript, Python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Cucumber BDD, Serenity, Allure, XSLT, HTML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 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Jenkins, Github actions. </a:t>
            </a:r>
          </a:p>
          <a:p>
            <a:pPr>
              <a:spcAft>
                <a:spcPts val="300"/>
              </a:spcAft>
            </a:pPr>
            <a:r>
              <a:rPr lang="de-DE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lang="de-D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DevOps. 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A5B19D6-8C96-81A4-D3A7-57D72D42957E}"/>
              </a:ext>
            </a:extLst>
          </p:cNvPr>
          <p:cNvSpPr txBox="1">
            <a:spLocks/>
          </p:cNvSpPr>
          <p:nvPr/>
        </p:nvSpPr>
        <p:spPr>
          <a:xfrm>
            <a:off x="138307" y="4584243"/>
            <a:ext cx="1284406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(retail, wholesale banking, payments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>
              <a:spcAft>
                <a:spcPts val="300"/>
              </a:spcAft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Salesforce/Software, SAP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863348D3-05C9-90AC-2139-7A8E988141FD}"/>
              </a:ext>
            </a:extLst>
          </p:cNvPr>
          <p:cNvSpPr txBox="1">
            <a:spLocks/>
          </p:cNvSpPr>
          <p:nvPr/>
        </p:nvSpPr>
        <p:spPr>
          <a:xfrm>
            <a:off x="4761496" y="826465"/>
            <a:ext cx="7430504" cy="5621964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domain- Test Associate Manager (Team size: 16 QA)- BNZ (Bank of New Zealand) [Jan 2022-till date]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 Leading the 2 pods and managing end-to-end deliverables using Accenture's delivery methods for seamless execution. Led QA representation in QBR sessions for Financial Close Tribes.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Automation coverage, and traceability matrix, ensured that projects were delivered within the timeline, and guided testing teams in applying best practices.</a:t>
            </a: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test automation coverage from 75% to ~88%. Used different tools on each pods.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1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50" b="1" u="sng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testing performed on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SAP S/4HANA, and FI modules. seamless implementation of finance processes, specifically Accounts Payable and Receivables</a:t>
            </a:r>
          </a:p>
          <a:p>
            <a:pPr>
              <a:spcAft>
                <a:spcPts val="0"/>
              </a:spcAft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110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150" b="1" u="sng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Jest-Supertest, Typescript, Splunk,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jest-Supertest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50" b="1" u="sng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lang="en-US" sz="11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domain- Test lead  in Commerzbank, Frankfurt Germany [Jan 2020-Dec 2021]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Mobile Apps with TDD (Appium &amp; Java):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mobile app automation initiatives using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Appium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 Java-based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BDD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framework,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Jenkins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ensuring robust and maintainable test suites.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Worked on SEPA (Payments),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GPPIP (Instant), GPPHC (High Care)</a:t>
            </a: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GPPMP (mass payments) and SWIFT Gateway.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5403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Catalyst: 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Actively fostered knowledge sharing within the team by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conducting mobile app automation training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sessions. </a:t>
            </a: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Increased automation test coverage from 20% to ~64%. Worked directly at client site in Frankfurt, Germany to mitigate high-priority real-time incidents.</a:t>
            </a: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spcAft>
                <a:spcPts val="0"/>
              </a:spcAft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>
              <a:spcAft>
                <a:spcPts val="0"/>
              </a:spcAft>
              <a:tabLst>
                <a:tab pos="177800" algn="l"/>
              </a:tabLst>
              <a:defRPr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A3F06493-2FF2-4649-3FC7-FF25B59435E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11" r="2111"/>
          <a:stretch>
            <a:fillRect/>
          </a:stretch>
        </p:blipFill>
        <p:spPr>
          <a:xfrm>
            <a:off x="180564" y="105929"/>
            <a:ext cx="1001334" cy="1025755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3CB7D0D-DC04-48F9-25CE-847E826D082B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63B250-F354-9751-B06A-C67F0AAA30A3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E82D3B-59CC-297C-981F-8B513050622E}"/>
              </a:ext>
            </a:extLst>
          </p:cNvPr>
          <p:cNvSpPr txBox="1"/>
          <p:nvPr/>
        </p:nvSpPr>
        <p:spPr>
          <a:xfrm>
            <a:off x="1207271" y="624653"/>
            <a:ext cx="32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Email: </a:t>
            </a:r>
            <a:r>
              <a:rPr lang="en-US" sz="1200" u="sng" dirty="0">
                <a:solidFill>
                  <a:schemeClr val="accent2">
                    <a:lumMod val="75000"/>
                  </a:schemeClr>
                </a:solidFill>
              </a:rPr>
              <a:t>Jaingourav999</a:t>
            </a:r>
            <a:r>
              <a:rPr lang="en-US" sz="1200" u="sng" dirty="0">
                <a:solidFill>
                  <a:schemeClr val="accent2">
                    <a:lumMod val="75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lang="en-US" sz="1200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Phone: +91-9601874688</a:t>
            </a: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  <a:hlinkClick r:id="rId7"/>
              </a:rPr>
              <a:t>LinkedIn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hlinkClick r:id="rId10"/>
              </a:rPr>
              <a:t>Blogs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hlinkClick r:id="rId11"/>
              </a:rPr>
              <a:t>GitHub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ECB98-439F-1E92-68D1-3DC4594CBEB8}"/>
              </a:ext>
            </a:extLst>
          </p:cNvPr>
          <p:cNvSpPr txBox="1"/>
          <p:nvPr/>
        </p:nvSpPr>
        <p:spPr>
          <a:xfrm>
            <a:off x="8668195" y="-32456"/>
            <a:ext cx="35065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Availability: Serving Notice period. LWD: 20</a:t>
            </a:r>
            <a:r>
              <a:rPr lang="en-US" sz="1100" b="1" baseline="30000" dirty="0"/>
              <a:t>th</a:t>
            </a:r>
            <a:r>
              <a:rPr lang="en-US" sz="1100" b="1" dirty="0"/>
              <a:t> May 2025</a:t>
            </a:r>
          </a:p>
        </p:txBody>
      </p:sp>
    </p:spTree>
    <p:extLst>
      <p:ext uri="{BB962C8B-B14F-4D97-AF65-F5344CB8AC3E}">
        <p14:creationId xmlns:p14="http://schemas.microsoft.com/office/powerpoint/2010/main" val="2336987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DF32-939A-51E4-4353-EAC71F35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46AAA6-256D-FA7B-41C7-BB76ACF550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4B57BCE4-D415-9682-4CDD-ACDECF3D0E72}"/>
              </a:ext>
            </a:extLst>
          </p:cNvPr>
          <p:cNvCxnSpPr>
            <a:cxnSpLocks/>
          </p:cNvCxnSpPr>
          <p:nvPr/>
        </p:nvCxnSpPr>
        <p:spPr>
          <a:xfrm>
            <a:off x="4550623" y="240435"/>
            <a:ext cx="0" cy="641137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9B585D-3113-CFFB-16B6-D17265D1406A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9775F03A-F7AC-958C-E473-7708E0E1186A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8F45F77F-B8FA-0E6A-2838-CBB158B92970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46E36880-A26F-3229-2A9B-3A8817D702F7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E500EF0-2DF1-489E-1770-3968867D11D8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D662691-66C5-1200-E512-FD15A4B733DA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E4C4666-E2FB-611D-1512-E48AF117159D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3313FB-D83A-9D3A-F10F-7F5C8B09E07D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E056E6-7429-3482-D786-588F33C369B5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FA5C3D-3094-CF66-E9ED-0582B0134F90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372B61B-0DD6-0CF6-F86B-4BBC6EFF0AC1}"/>
              </a:ext>
            </a:extLst>
          </p:cNvPr>
          <p:cNvSpPr txBox="1">
            <a:spLocks/>
          </p:cNvSpPr>
          <p:nvPr/>
        </p:nvSpPr>
        <p:spPr>
          <a:xfrm>
            <a:off x="356030" y="357128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ABBDE-DEB5-0E6F-F288-AD00D6583973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A64B0D-2EF3-E9B2-1403-AA4C0F299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453376"/>
              </p:ext>
            </p:extLst>
          </p:nvPr>
        </p:nvGraphicFramePr>
        <p:xfrm>
          <a:off x="408740" y="787636"/>
          <a:ext cx="3964761" cy="19572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4746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288428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2015-till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Analyst(contract role)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DBCD5B8-1598-FBA4-3F62-802CB2A6E053}"/>
              </a:ext>
            </a:extLst>
          </p:cNvPr>
          <p:cNvSpPr txBox="1"/>
          <p:nvPr/>
        </p:nvSpPr>
        <p:spPr>
          <a:xfrm>
            <a:off x="4743771" y="3644664"/>
            <a:ext cx="727625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QA Engineer (level-1)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DirectBuy (leading USA based e-commerce test automation by using selenium and java.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testing of Salesforce, Desktop application and Hardware devices/embedded devices.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5AC34-068B-3E79-E26F-5FDF5A2C7DAF}"/>
              </a:ext>
            </a:extLst>
          </p:cNvPr>
          <p:cNvSpPr txBox="1"/>
          <p:nvPr/>
        </p:nvSpPr>
        <p:spPr>
          <a:xfrm>
            <a:off x="4796936" y="4405483"/>
            <a:ext cx="733098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QA Tester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 Game tester on J2ME devices and Apple devices (iPhone and iPads)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AMD developed GPU Tester (functional and performance tester)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BCF266-4746-5CCC-F731-1C311CB2EE6C}"/>
              </a:ext>
            </a:extLst>
          </p:cNvPr>
          <p:cNvSpPr txBox="1"/>
          <p:nvPr/>
        </p:nvSpPr>
        <p:spPr>
          <a:xfrm>
            <a:off x="214507" y="2805080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using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Power 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C2A7F56D-7E60-8146-2D71-2983AE4E0634}"/>
              </a:ext>
            </a:extLst>
          </p:cNvPr>
          <p:cNvSpPr/>
          <p:nvPr/>
        </p:nvSpPr>
        <p:spPr>
          <a:xfrm>
            <a:off x="4670570" y="3438758"/>
            <a:ext cx="5050941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(eInfochips- Jan 2013 to Oct 2015)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E8FCF5-A2C3-075F-C9D6-F3F72725DA49}"/>
              </a:ext>
            </a:extLst>
          </p:cNvPr>
          <p:cNvSpPr txBox="1"/>
          <p:nvPr/>
        </p:nvSpPr>
        <p:spPr>
          <a:xfrm>
            <a:off x="4721401" y="1228342"/>
            <a:ext cx="7339117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domain- Test lead in UK Govt Based project ( Remove illegal immigrants) [Dec 2018- April 2021]</a:t>
            </a: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cucumber (BDD) with testing automation framework, using selenium webdriver, TestNG, POM, Allure reporting, and docker and Kubernetes on AWS environment.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dependency injection, JAVA 8/11.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of test execution to AWS, and using S3 bucket, docker, and Kubernetes.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in Postgres database. Good experience in handling SQL queries.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and traceability matrix, ensured that projects were delivered within the timeline, and guided testing teams in applying best practices.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deliverables.						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AcnBodyText_ID_27664">
            <a:extLst>
              <a:ext uri="{FF2B5EF4-FFF2-40B4-BE49-F238E27FC236}">
                <a16:creationId xmlns:a16="http://schemas.microsoft.com/office/drawing/2014/main" id="{7D0EC390-5525-597A-DDBA-F05B5ADC0E7E}"/>
              </a:ext>
            </a:extLst>
          </p:cNvPr>
          <p:cNvSpPr/>
          <p:nvPr/>
        </p:nvSpPr>
        <p:spPr>
          <a:xfrm>
            <a:off x="4726719" y="4264941"/>
            <a:ext cx="6053575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fontAlgn="auto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 dirty="0">
                <a:solidFill>
                  <a:schemeClr val="accent3"/>
                </a:solidFill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(EA Games and AMD- May 2010 to Nov 2012)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4D9BF2-7497-4B40-CA5A-8B7BE1B6D933}"/>
              </a:ext>
            </a:extLst>
          </p:cNvPr>
          <p:cNvSpPr txBox="1"/>
          <p:nvPr/>
        </p:nvSpPr>
        <p:spPr>
          <a:xfrm>
            <a:off x="4802911" y="4926593"/>
            <a:ext cx="729601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One of the Lead Mentors for new joiners in Accenture India DU.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A4F184-13D3-E571-19E6-E0BF9D35CC42}"/>
              </a:ext>
            </a:extLst>
          </p:cNvPr>
          <p:cNvSpPr txBox="1"/>
          <p:nvPr/>
        </p:nvSpPr>
        <p:spPr>
          <a:xfrm>
            <a:off x="4721400" y="240435"/>
            <a:ext cx="733912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 (B2B)</a:t>
            </a: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lead in Adidas and Dyson project [April 2019-December 2020]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application automation by using selenium with Python. API testing by Rest assured with java. </a:t>
            </a:r>
          </a:p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devops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</p:txBody>
      </p:sp>
    </p:spTree>
    <p:extLst>
      <p:ext uri="{BB962C8B-B14F-4D97-AF65-F5344CB8AC3E}">
        <p14:creationId xmlns:p14="http://schemas.microsoft.com/office/powerpoint/2010/main" val="692814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1545</Words>
  <Application>Microsoft Office PowerPoint</Application>
  <PresentationFormat>Widescreen</PresentationFormat>
  <Paragraphs>152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 (Headings)</vt:lpstr>
      <vt:lpstr>Calibri</vt:lpstr>
      <vt:lpstr>Calibri Light</vt:lpstr>
      <vt:lpstr>Graphik Light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 B.</cp:lastModifiedBy>
  <cp:revision>119</cp:revision>
  <dcterms:created xsi:type="dcterms:W3CDTF">2023-02-08T14:25:43Z</dcterms:created>
  <dcterms:modified xsi:type="dcterms:W3CDTF">2025-04-29T06:32:22Z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