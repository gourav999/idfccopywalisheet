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147470596" r:id="rId2"/>
    <p:sldId id="214747059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695" autoAdjust="0"/>
    <p:restoredTop sz="93447" autoAdjust="0"/>
  </p:normalViewPr>
  <p:slideViewPr>
    <p:cSldViewPr snapToGrid="0">
      <p:cViewPr varScale="1">
        <p:scale>
          <a:sx n="89" d="100"/>
          <a:sy n="89" d="100"/>
        </p:scale>
        <p:origin x="893" y="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7BAFF9-FA33-4061-B456-9D8A3649E610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546F24-D884-44A4-9F12-C5CDC2F97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829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61E33-EEFC-EF9A-163B-16FCBB17D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1DA36E-AC66-36C4-4A48-7AE638ED97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8D6F1C-9F27-348F-2936-1A28BD893F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F62EA0-C34A-CF10-AA5D-974247E3BD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546F24-D884-44A4-9F12-C5CDC2F97E1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70586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07747-9C35-2B97-876B-B82757610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1972F1-6054-5E52-7A05-6A4E26200A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6113BF-BB31-13D8-D692-611834FDAA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8A4A50-7424-102A-F919-8DFDE2BC63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546F24-D884-44A4-9F12-C5CDC2F97E1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953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4A13E-702A-0514-15F8-02BCABA945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0C2D22-C031-13FD-07FA-499CB80951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076EB2-C215-4F78-1C83-DD60613BC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60E73-FF51-11F9-33AB-2CDE8E0EC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81DF9-44B1-0112-D5E3-71C0DF251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200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7A039-6CE9-DD96-1305-05EA6B058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5F00C-006E-EF9F-C417-E0B0B7AEC4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77145-2BF3-8080-5DF3-49620F1E0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DC2A8-B7A3-0FF5-95B9-FBE6695F0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F9221-899E-9D84-6C81-EEC1DED7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791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01219-05C9-7004-3916-19ED8158C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E48C97-777C-9B59-B5E1-72A2D047E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332D0-4C52-5D55-3D02-4BFAE43C6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C57A4-1517-7DFD-F200-B88D7C62F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7BE34-721B-03F2-B67B-02A9A3316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795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F56AB-9554-CB3D-9117-EF275204B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F217A-F376-E7FE-43B8-AF57DD653C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3F8AA8-7B22-8816-3687-9E9AF2502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118D67-7D9F-922A-411A-E95B294BC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9D50C-732A-3F1B-2C6F-2925E18A6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22E929-5822-44B9-EA23-5B9C4ACF8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072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BE15F-F1C6-B87C-B6F5-A6F9265DA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A24614-68A0-6DEA-84A1-0BD7D176F3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4C494A-BF75-8CFC-0DB3-BF0854E255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F32AB4-9A5F-EC30-2C41-2906A77EE1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DE8790-07C6-5D0B-670E-52B85FC8A5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9BC36E-425C-6897-286F-5408EEAAA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8DBE37-A4EE-814B-4E15-931DED985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108394-A20D-8D30-89C1-495250FE9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05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74912-1A25-C3C1-A8DA-1A3473719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4C51C1-FBCD-07D9-116B-2598DE01C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68A0C-A1B5-19A7-B240-8536CFDEE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2762F3-F1E2-FA5B-190E-51BB34FF2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219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C277AD-50F4-14F3-8010-0D2B1478B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05DCFB-5A76-6E0E-D20F-75010F720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1D5C70-74E0-5EEE-BE8A-A6A193288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066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41F7-07EF-9287-F9DD-FDE190206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0C513-D53B-69DA-20D8-E24BDA9BE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C674C4-63FD-47D5-C97A-B161ED6C51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191B4C-E0DB-51A0-60FA-EB002260D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2B7406-0F3A-7AD6-7F71-420D75532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6BF71F-DA36-482C-DE75-5F306A6FA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864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E4575-5A9A-B5A9-106B-DD331981C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D8929F-9861-4ECF-9764-07E0682276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CC4BA4-1915-8E1C-A8F0-ACA7170774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64B1AE-9EAB-ADF1-7EBB-E3C960FA0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B539E8-A015-2E9B-221C-3628B82A0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DFF3AA-1CFE-A76A-32DA-1957A1198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380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DC314-51BD-124D-EF6D-E7CD335B7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AFDF89-F4B8-5320-6120-4166BADBFD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28E76-AB5C-1C07-9012-7097DBC75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D4C35-5C99-DAC3-8961-6769886A6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FA04C-2283-E2E7-B722-BD778F47D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668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802144-FCFE-A694-506A-E87F21C8C5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D691FC-7B5F-2ECA-8848-4BF8CC03DA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6E6F3-CAB6-8C1C-DC10-DCC7FA575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671608-6609-1BC0-91B9-43B98B4FB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C3F7F-C5F1-E4C4-90EC-981889563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370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964EBE-9814-B203-B74D-4CB3E3DA6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F73721-9AB2-50D9-D6F3-8E43AFACE2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24164-B25F-FBF5-4C48-8566212F8E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BFA0DE-BE66-440E-8742-68E390E8300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41E84-AF4F-7E5B-08C5-3D677FBF96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1E2642-165D-F73C-856C-E29791A718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384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inkedin.com/in/jaingourav999/" TargetMode="External"/><Relationship Id="rId3" Type="http://schemas.openxmlformats.org/officeDocument/2006/relationships/notesSlide" Target="../notesSlides/notesSlide1.xml"/><Relationship Id="rId7" Type="http://schemas.openxmlformats.org/officeDocument/2006/relationships/hyperlink" Target="https://github.com/gourav999" TargetMode="Externa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Relationship Id="rId6" Type="http://schemas.openxmlformats.org/officeDocument/2006/relationships/hyperlink" Target="https://www.linkedin.com/posts/jaingourav999_people-leadership-credential-chapter-1-activity-7302569438824833024-hHOo?utm_source=share&amp;utm_medium=member_desktop&amp;rcm=ACoAAAL7QG4B3HOM_wm3Yzo6_eXu2iCPqt9YoP0" TargetMode="External"/><Relationship Id="rId11" Type="http://schemas.openxmlformats.org/officeDocument/2006/relationships/hyperlink" Target="https://jaingourav999.blogspot.com/" TargetMode="External"/><Relationship Id="rId5" Type="http://schemas.openxmlformats.org/officeDocument/2006/relationships/image" Target="../media/image1.emf"/><Relationship Id="rId10" Type="http://schemas.openxmlformats.org/officeDocument/2006/relationships/hyperlink" Target="mailto:Gourav.b.jain@accenture.com" TargetMode="External"/><Relationship Id="rId4" Type="http://schemas.openxmlformats.org/officeDocument/2006/relationships/oleObject" Target="../embeddings/oleObject1.bin"/><Relationship Id="rId9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Relationship Id="rId6" Type="http://schemas.openxmlformats.org/officeDocument/2006/relationships/hyperlink" Target="https://www.linkedin.com/in/jaingourav999/" TargetMode="Externa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AA937-B284-ADA7-C860-A9E199C1A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B9C12FB8-D77F-9EDD-46A1-2DFE1EB87CF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D6E3F57-1658-4DC3-A620-01E67AD0FC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AcnBodyText_ID_27664">
            <a:extLst>
              <a:ext uri="{FF2B5EF4-FFF2-40B4-BE49-F238E27FC236}">
                <a16:creationId xmlns:a16="http://schemas.microsoft.com/office/drawing/2014/main" id="{403661EE-A41D-1C59-2E59-5477DD5AEC6E}"/>
              </a:ext>
            </a:extLst>
          </p:cNvPr>
          <p:cNvSpPr/>
          <p:nvPr/>
        </p:nvSpPr>
        <p:spPr>
          <a:xfrm>
            <a:off x="214687" y="1305863"/>
            <a:ext cx="4022484" cy="18462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217" rtl="0" eaLnBrk="1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latin typeface="Arial Black (Headings)"/>
                <a:ea typeface="SimSun" pitchFamily="2"/>
                <a:cs typeface="Arial" panose="020B0604020202020204" pitchFamily="34" charset="0"/>
              </a:rPr>
              <a:t>PROFESSIONAL BACKGROUND (TECHNICAL)</a:t>
            </a:r>
          </a:p>
        </p:txBody>
      </p:sp>
      <p:sp>
        <p:nvSpPr>
          <p:cNvPr id="9" name="AcnBodyText_ID_27664">
            <a:extLst>
              <a:ext uri="{FF2B5EF4-FFF2-40B4-BE49-F238E27FC236}">
                <a16:creationId xmlns:a16="http://schemas.microsoft.com/office/drawing/2014/main" id="{33147B0E-B0D5-6EDB-41F8-3691E72DFA3A}"/>
              </a:ext>
            </a:extLst>
          </p:cNvPr>
          <p:cNvSpPr/>
          <p:nvPr/>
        </p:nvSpPr>
        <p:spPr>
          <a:xfrm>
            <a:off x="4769018" y="3757738"/>
            <a:ext cx="4022484" cy="18462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217" rtl="0" eaLnBrk="1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latin typeface="Arial Black (Headings)"/>
                <a:ea typeface="SimSun" pitchFamily="2"/>
                <a:cs typeface="Arial" panose="020B0604020202020204" pitchFamily="34" charset="0"/>
              </a:rPr>
              <a:t>SELECTED EXPERIENCE (Accenture, 9 Years)</a:t>
            </a:r>
          </a:p>
        </p:txBody>
      </p:sp>
      <p:cxnSp>
        <p:nvCxnSpPr>
          <p:cNvPr id="10" name="Straight Connector 12">
            <a:extLst>
              <a:ext uri="{FF2B5EF4-FFF2-40B4-BE49-F238E27FC236}">
                <a16:creationId xmlns:a16="http://schemas.microsoft.com/office/drawing/2014/main" id="{1597C1EE-F017-BF3E-F134-C5AFD3301774}"/>
              </a:ext>
            </a:extLst>
          </p:cNvPr>
          <p:cNvCxnSpPr>
            <a:cxnSpLocks/>
          </p:cNvCxnSpPr>
          <p:nvPr/>
        </p:nvCxnSpPr>
        <p:spPr>
          <a:xfrm>
            <a:off x="4698494" y="576504"/>
            <a:ext cx="0" cy="6097251"/>
          </a:xfrm>
          <a:prstGeom prst="straightConnector1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AcnBodyText_ID_27664">
            <a:extLst>
              <a:ext uri="{FF2B5EF4-FFF2-40B4-BE49-F238E27FC236}">
                <a16:creationId xmlns:a16="http://schemas.microsoft.com/office/drawing/2014/main" id="{4A30BE28-076F-3D41-7D62-80C4268E8044}"/>
              </a:ext>
            </a:extLst>
          </p:cNvPr>
          <p:cNvSpPr/>
          <p:nvPr/>
        </p:nvSpPr>
        <p:spPr>
          <a:xfrm>
            <a:off x="316146" y="4195696"/>
            <a:ext cx="1685266" cy="18462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/>
              </a:rPr>
              <a:t>Industries</a:t>
            </a:r>
          </a:p>
        </p:txBody>
      </p:sp>
      <p:sp>
        <p:nvSpPr>
          <p:cNvPr id="12" name="AcnBodyText_ID_27664">
            <a:extLst>
              <a:ext uri="{FF2B5EF4-FFF2-40B4-BE49-F238E27FC236}">
                <a16:creationId xmlns:a16="http://schemas.microsoft.com/office/drawing/2014/main" id="{3B61395C-F749-DE1B-845E-25C0913A7448}"/>
              </a:ext>
            </a:extLst>
          </p:cNvPr>
          <p:cNvSpPr/>
          <p:nvPr/>
        </p:nvSpPr>
        <p:spPr>
          <a:xfrm>
            <a:off x="2185938" y="4092061"/>
            <a:ext cx="2144650" cy="18466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/>
              </a:rPr>
              <a:t>Applied Experience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5621069-C0F7-2F68-EBAF-5B89D3AD9C93}"/>
              </a:ext>
            </a:extLst>
          </p:cNvPr>
          <p:cNvSpPr txBox="1">
            <a:spLocks/>
          </p:cNvSpPr>
          <p:nvPr/>
        </p:nvSpPr>
        <p:spPr>
          <a:xfrm>
            <a:off x="-28487" y="1448925"/>
            <a:ext cx="4756816" cy="22555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172765" indent="-172765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 b="0"/>
            </a:lvl1pPr>
            <a:lvl2pPr marL="0" lvl="1" indent="0" defTabSz="228600" fontAlgn="base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Arial" panose="020B0604020202020204" pitchFamily="34" charset="0"/>
              <a:buNone/>
              <a:defRPr sz="1100" b="1">
                <a:cs typeface="Arial" panose="020B0604020202020204" pitchFamily="34" charset="0"/>
              </a:defRPr>
            </a:lvl2pPr>
            <a:lvl3pPr marL="4572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200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pPr marL="171450" marR="0" lvl="0" indent="-1714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Exp: 15 yrs. Designation: QA Architect/Manager</a:t>
            </a:r>
            <a:endParaRPr kumimoji="0" lang="en-US" sz="11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marR="0" lvl="0" indent="-1714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Defined QA Automation roadmap, test strategy  for multiple projects.</a:t>
            </a:r>
            <a:endParaRPr kumimoji="0" lang="en-US" sz="11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marR="0" lvl="0" indent="-1714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Experience with AI tools- GitHub Copilot(certified), Testim.io, Tabnine. </a:t>
            </a:r>
          </a:p>
          <a:p>
            <a:pPr marL="171450" marR="0" lvl="0" indent="-1714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Leveraged AI tools (GitHub Copilot &amp; Tabnine) to </a:t>
            </a: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automate 70% of test code generation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, boosting productivity by </a:t>
            </a: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65%.  </a:t>
            </a:r>
          </a:p>
          <a:p>
            <a:pPr marL="171450" marR="0" lvl="0" indent="-1714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Accenture specific certifications: Certified DFA (Delivery foundation academy-4.0), PMFS (Project management foundation school), </a:t>
            </a: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People Leadership</a:t>
            </a: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171450" marR="0" lvl="0" indent="-1714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Proficient in prompt engineering to optimize results in Gen AI.</a:t>
            </a:r>
          </a:p>
          <a:p>
            <a:pPr marL="171450" marR="0" lvl="0" indent="-1714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Skilled in developing and customizing Test Automation frameworks, Automating test planning, authoring test artifacts, and overseeing metrics data collection.</a:t>
            </a:r>
          </a:p>
          <a:p>
            <a:pPr marL="171450" marR="0" lvl="0" indent="-1714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Built robust test frameworks  and can be found on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7"/>
              </a:rPr>
              <a:t>GitHub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171450" marR="0" lvl="0" indent="-1714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8D33B400-E63C-E041-BB9A-3E6227B365DD}"/>
              </a:ext>
            </a:extLst>
          </p:cNvPr>
          <p:cNvSpPr txBox="1">
            <a:spLocks/>
          </p:cNvSpPr>
          <p:nvPr/>
        </p:nvSpPr>
        <p:spPr>
          <a:xfrm>
            <a:off x="273838" y="5761647"/>
            <a:ext cx="1917265" cy="3429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171416" indent="-171416" defTabSz="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900" b="0" cap="none">
                <a:cs typeface="Arial" panose="020B0604020202020204" pitchFamily="34" charset="0"/>
              </a:defRPr>
            </a:lvl1pPr>
            <a:lvl2pPr marL="182765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1100"/>
            </a:lvl2pPr>
            <a:lvl3pPr marL="365532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  <a:p>
            <a:pPr marL="171416" marR="0" lvl="0" indent="-171416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  <a:p>
            <a:pPr marL="171416" marR="0" lvl="0" indent="-171416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  <a:p>
            <a:pPr marL="171416" marR="0" lvl="0" indent="-171416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7F473012-B042-9822-C6FC-6FA58A4101E0}"/>
              </a:ext>
            </a:extLst>
          </p:cNvPr>
          <p:cNvSpPr txBox="1">
            <a:spLocks/>
          </p:cNvSpPr>
          <p:nvPr/>
        </p:nvSpPr>
        <p:spPr>
          <a:xfrm>
            <a:off x="324301" y="4705106"/>
            <a:ext cx="1917265" cy="11996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71416" indent="-171416" defTabSz="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900" b="0" cap="none" dirty="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82765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lang="en-US" sz="1100" dirty="0" smtClean="0"/>
            </a:lvl2pPr>
            <a:lvl3pPr marL="365532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dirty="0" smtClean="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100" dirty="0" smtClean="0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dirty="0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pPr marL="171416" marR="0" lvl="0" indent="-171416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63A0A696-9C98-69C5-A285-35CAE0D92059}"/>
              </a:ext>
            </a:extLst>
          </p:cNvPr>
          <p:cNvSpPr txBox="1">
            <a:spLocks/>
          </p:cNvSpPr>
          <p:nvPr/>
        </p:nvSpPr>
        <p:spPr>
          <a:xfrm>
            <a:off x="2483847" y="4733457"/>
            <a:ext cx="1917265" cy="156226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171416" indent="-171416" defTabSz="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900" b="0" cap="none">
                <a:cs typeface="Arial" panose="020B0604020202020204" pitchFamily="34" charset="0"/>
              </a:defRPr>
            </a:lvl1pPr>
            <a:lvl2pPr marL="182765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1100"/>
            </a:lvl2pPr>
            <a:lvl3pPr marL="365532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  <a:p>
            <a:pPr marL="171416" marR="0" lvl="0" indent="-171416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  <a:p>
            <a:pPr marL="171416" marR="0" lvl="0" indent="-171416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  <a:p>
            <a:pPr marL="171416" marR="0" lvl="0" indent="-171416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  <a:p>
            <a:pPr marL="171416" marR="0" lvl="0" indent="-171416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  <a:p>
            <a:pPr marL="171416" marR="0" lvl="0" indent="-171416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Title 3">
            <a:extLst>
              <a:ext uri="{FF2B5EF4-FFF2-40B4-BE49-F238E27FC236}">
                <a16:creationId xmlns:a16="http://schemas.microsoft.com/office/drawing/2014/main" id="{4D3435D1-6228-8FCD-DB41-2F19D09095B2}"/>
              </a:ext>
            </a:extLst>
          </p:cNvPr>
          <p:cNvSpPr txBox="1">
            <a:spLocks/>
          </p:cNvSpPr>
          <p:nvPr/>
        </p:nvSpPr>
        <p:spPr>
          <a:xfrm>
            <a:off x="1282193" y="122420"/>
            <a:ext cx="10101572" cy="44319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u="sng" dirty="0">
                <a:solidFill>
                  <a:prstClr val="black"/>
                </a:solidFill>
                <a:latin typeface="Calibri Light" panose="020F0302020204030204"/>
                <a:hlinkClick r:id="rId8"/>
              </a:rPr>
              <a:t>AI Advocate Test Engineering Manager</a:t>
            </a:r>
            <a:endParaRPr kumimoji="0" lang="de-DE" sz="2400" b="1" i="0" u="sng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CF13E69D-4C69-8AEE-875A-2DD29919E78B}"/>
              </a:ext>
            </a:extLst>
          </p:cNvPr>
          <p:cNvSpPr txBox="1">
            <a:spLocks/>
          </p:cNvSpPr>
          <p:nvPr/>
        </p:nvSpPr>
        <p:spPr>
          <a:xfrm>
            <a:off x="1299156" y="451103"/>
            <a:ext cx="1933603" cy="2051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2000" b="0" i="0" kern="1200" cap="all" baseline="0" dirty="0">
                <a:solidFill>
                  <a:schemeClr val="accent4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  <a:lvl2pPr marL="182765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lang="en-US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532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200" cap="all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Gourav jain</a:t>
            </a: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1" i="0" u="none" strike="noStrike" kern="1200" cap="all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F7DCA923-1C32-5322-A100-ABC0F8EF1197}"/>
              </a:ext>
            </a:extLst>
          </p:cNvPr>
          <p:cNvSpPr txBox="1">
            <a:spLocks/>
          </p:cNvSpPr>
          <p:nvPr/>
        </p:nvSpPr>
        <p:spPr>
          <a:xfrm>
            <a:off x="1392581" y="4282216"/>
            <a:ext cx="3263381" cy="1628123"/>
          </a:xfrm>
          <a:prstGeom prst="rect">
            <a:avLst/>
          </a:prstGeom>
        </p:spPr>
        <p:txBody>
          <a:bodyPr vert="horz" lIns="0" tIns="0" rIns="0" bIns="72000" numCol="1" rtlCol="0">
            <a:noAutofit/>
          </a:bodyPr>
          <a:lstStyle>
            <a:lvl1pPr marL="226920" indent="-171381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630" indent="-23009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Management skill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Delivery management.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Core skill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Test Automation (Both UI  and Rest/SOAP Apis)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 automation tools: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Playwright (microsoft),Selenium (4.0 Latest), Appium (V2.0-mobile app automation), Rest Assured, Postman (automation), Bruno, SOAPUI, Jest/Supertest, Pupteer, TOSCA, Cypress. 	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Prgramming language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java, typescript, Python</a:t>
            </a:r>
            <a:endParaRPr kumimoji="0" lang="de-DE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Reporting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Cucumber BDD, Serenity, Allure, XSLT, HTML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DB-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AWS DynamoDB, Postgres, MongoDB, SQL Server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 tools: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Maven, Gradle. Jira, Git, Bitbucket.</a:t>
            </a: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Devops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Jenkins, Github actions. 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Cloud: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AWS (certifed developer assciate), MS Azure fundamentals(Certified), Azure DevOps</a:t>
            </a:r>
            <a:r>
              <a:rPr lang="de-DE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ADOBE AEM.</a:t>
            </a:r>
            <a:endParaRPr kumimoji="0" lang="de-DE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B48C1474-DE7A-0BA7-29AF-EC69E5217BCA}"/>
              </a:ext>
            </a:extLst>
          </p:cNvPr>
          <p:cNvSpPr txBox="1">
            <a:spLocks/>
          </p:cNvSpPr>
          <p:nvPr/>
        </p:nvSpPr>
        <p:spPr>
          <a:xfrm>
            <a:off x="94849" y="4432881"/>
            <a:ext cx="1297732" cy="891472"/>
          </a:xfrm>
          <a:prstGeom prst="rect">
            <a:avLst/>
          </a:prstGeom>
        </p:spPr>
        <p:txBody>
          <a:bodyPr vert="horz" lIns="0" tIns="0" rIns="0" bIns="72000" rtlCol="0">
            <a:noAutofit/>
          </a:bodyPr>
          <a:lstStyle>
            <a:lvl1pPr marL="226920" indent="-171381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630" indent="-23009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Banking (retail, wholesale banking, payments and mobile app)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Public domain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e-Commerce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HLS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Telecom</a:t>
            </a:r>
          </a:p>
          <a:p>
            <a:pPr lvl="0">
              <a:spcAft>
                <a:spcPts val="300"/>
              </a:spcAft>
              <a:defRPr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Salesforce/Software, SAP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5539" marR="0" lvl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+mn-ea"/>
              <a:cs typeface="+mn-cs"/>
            </a:endParaRPr>
          </a:p>
          <a:p>
            <a:pPr marL="230618" marR="0" lvl="1" indent="-228503" algn="just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SG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新細明體" charset="-120"/>
              <a:cs typeface="+mn-cs"/>
            </a:endParaRP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2B86E54D-56BF-CD69-4E13-E2FF673437EA}"/>
              </a:ext>
            </a:extLst>
          </p:cNvPr>
          <p:cNvSpPr txBox="1">
            <a:spLocks/>
          </p:cNvSpPr>
          <p:nvPr/>
        </p:nvSpPr>
        <p:spPr>
          <a:xfrm>
            <a:off x="4728329" y="3995649"/>
            <a:ext cx="7409239" cy="4217943"/>
          </a:xfrm>
          <a:prstGeom prst="rect">
            <a:avLst/>
          </a:prstGeom>
        </p:spPr>
        <p:txBody>
          <a:bodyPr vert="horz" lIns="0" tIns="0" rIns="0" bIns="72000" rtlCol="0">
            <a:noAutofit/>
          </a:bodyPr>
          <a:lstStyle>
            <a:lvl1pPr marL="53953" marR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7215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953" marR="0" lvl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1" i="0" u="sng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 project: Banking domain- Test Associate Manager (Team size: 16 QA)- BNZ (Bank of New Zealand) [Jan 2022-</a:t>
            </a:r>
            <a:r>
              <a:rPr lang="en-US" sz="1100" b="1" u="sng" dirty="0">
                <a:solidFill>
                  <a:srgbClr val="ED7D3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May 2025</a:t>
            </a:r>
            <a:r>
              <a:rPr kumimoji="0" lang="en-US" sz="1100" b="1" i="0" u="sng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]</a:t>
            </a:r>
          </a:p>
          <a:p>
            <a:pPr marL="225403" marR="0" lvl="0" indent="-17145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Currently Leading the 2 pods and managing end-to-end deliverables using Accenture's delivery methods for seamless execution. Led QA representation in QBR sessions for Financial Close Tribes.</a:t>
            </a:r>
          </a:p>
          <a:p>
            <a:pPr marL="225403" marR="0" lvl="0" indent="-17145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Ownership of test planning, test estimation, Automation coverage, and traceability matrix, ensured that projects were delivered within the timeline, and guided testing teams in applying best practices.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marR="0" lvl="0" indent="-17145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 on project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Increase test automation coverage from 75% to ~88%. Used different tools on each pods.</a:t>
            </a:r>
          </a:p>
          <a:p>
            <a:pPr marL="225403" marR="0" lvl="0" indent="-17145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3953" marR="0" lvl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sz="1150" b="1" i="0" u="sng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Pod 1: Tech used: GitHub copilot, Playwright, Typescript, Java, Jenkins |Application: TFO| Domain: Wholesale banking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marR="0" lvl="0" indent="-17145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(UI Specific) Designed the UI automation by using Playwright with typescript.</a:t>
            </a:r>
          </a:p>
          <a:p>
            <a:pPr marL="225403" marR="0" lvl="0" indent="-17145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API Integration Testing: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Developed automated tests by using Rest Assured, and BDD cucumber framework for API integrations between Salesforce and external systems, ensuring data integrity and system reliability.</a:t>
            </a:r>
          </a:p>
          <a:p>
            <a:pPr marL="53953" marR="0" lvl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3953" marR="0" lvl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kumimoji="0" lang="en-US" sz="1150" b="1" i="0" u="sng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Pod 2: Tech used: Jest-Supertest, </a:t>
            </a:r>
            <a:r>
              <a:rPr kumimoji="0" lang="en-US" sz="1150" b="1" i="0" u="sng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Typescript,Splunk</a:t>
            </a:r>
            <a:r>
              <a:rPr kumimoji="0" lang="en-US" sz="1150" b="1" i="0" u="sng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Jenkins| Application: General insurance API| Domain: Insurance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(API Specific) Worked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jest-Supertest based framework along with typescript.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Automated the API’s along with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AWS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DynamoDB validation and CloudWatch logs validation.</a:t>
            </a:r>
          </a:p>
          <a:p>
            <a:pPr marL="53953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53953" marR="0" lvl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77800" algn="l"/>
              </a:tabLst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marR="0" lvl="0" indent="-17145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8" name="Picture Placeholder 11" descr="A person wearing glasses&#10;&#10;Description automatically generated with medium confidence">
            <a:extLst>
              <a:ext uri="{FF2B5EF4-FFF2-40B4-BE49-F238E27FC236}">
                <a16:creationId xmlns:a16="http://schemas.microsoft.com/office/drawing/2014/main" id="{1867D661-A5CB-540C-9C9F-137A9504CE4B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111" r="2111"/>
          <a:stretch>
            <a:fillRect/>
          </a:stretch>
        </p:blipFill>
        <p:spPr>
          <a:xfrm>
            <a:off x="158285" y="74434"/>
            <a:ext cx="1007831" cy="1032411"/>
          </a:xfrm>
          <a:prstGeom prst="ellipse">
            <a:avLst/>
          </a:prstGeom>
          <a:ln>
            <a:solidFill>
              <a:schemeClr val="tx1"/>
            </a:solidFill>
          </a:ln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A38E3D8E-835B-2182-13F1-CBB76AFEC0FE}"/>
              </a:ext>
            </a:extLst>
          </p:cNvPr>
          <p:cNvSpPr txBox="1"/>
          <p:nvPr/>
        </p:nvSpPr>
        <p:spPr>
          <a:xfrm>
            <a:off x="2875783" y="103105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FF2F49-AEC8-D8DA-B316-13890328187E}"/>
              </a:ext>
            </a:extLst>
          </p:cNvPr>
          <p:cNvSpPr txBox="1"/>
          <p:nvPr/>
        </p:nvSpPr>
        <p:spPr>
          <a:xfrm>
            <a:off x="2875783" y="103105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A88CF33-234F-220C-883E-1A3F04D7E87D}"/>
              </a:ext>
            </a:extLst>
          </p:cNvPr>
          <p:cNvSpPr txBox="1"/>
          <p:nvPr/>
        </p:nvSpPr>
        <p:spPr>
          <a:xfrm>
            <a:off x="1697314" y="930407"/>
            <a:ext cx="28431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sng" strike="noStrike" kern="1200" cap="none" spc="0" normalizeH="0" baseline="0" noProof="0" dirty="0">
              <a:ln>
                <a:noFill/>
              </a:ln>
              <a:solidFill>
                <a:srgbClr val="ED7D31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DB72C7-06F4-CF26-F89A-A8C71CC43573}"/>
              </a:ext>
            </a:extLst>
          </p:cNvPr>
          <p:cNvSpPr txBox="1"/>
          <p:nvPr/>
        </p:nvSpPr>
        <p:spPr>
          <a:xfrm>
            <a:off x="1215906" y="622544"/>
            <a:ext cx="32126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Email: </a:t>
            </a:r>
            <a:r>
              <a:rPr kumimoji="0" lang="en-US" sz="1200" b="0" i="0" u="sng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Jaingourav999</a:t>
            </a:r>
            <a:r>
              <a:rPr kumimoji="0" lang="en-US" sz="1200" b="0" i="0" u="sng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@gmail.com</a:t>
            </a:r>
            <a:endParaRPr kumimoji="0" lang="en-US" sz="1200" b="0" i="0" u="sng" strike="noStrike" kern="1200" cap="none" spc="0" normalizeH="0" baseline="0" noProof="0" dirty="0">
              <a:ln>
                <a:noFill/>
              </a:ln>
              <a:solidFill>
                <a:srgbClr val="ED7D31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Phone: +91-9601874688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8"/>
              </a:rPr>
              <a:t>LinkedIn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11"/>
              </a:rPr>
              <a:t>Blogs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7"/>
              </a:rPr>
              <a:t>GitHub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AcnBodyText_ID_27664">
            <a:extLst>
              <a:ext uri="{FF2B5EF4-FFF2-40B4-BE49-F238E27FC236}">
                <a16:creationId xmlns:a16="http://schemas.microsoft.com/office/drawing/2014/main" id="{0F5E17D7-289A-7CB9-9AF4-AAC9C4CB68BC}"/>
              </a:ext>
            </a:extLst>
          </p:cNvPr>
          <p:cNvSpPr/>
          <p:nvPr/>
        </p:nvSpPr>
        <p:spPr>
          <a:xfrm>
            <a:off x="4889890" y="521658"/>
            <a:ext cx="4022484" cy="18462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217" rtl="0" eaLnBrk="1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latin typeface="Arial Black (Headings)"/>
                <a:ea typeface="SimSun" pitchFamily="2"/>
                <a:cs typeface="Arial" panose="020B0604020202020204" pitchFamily="34" charset="0"/>
              </a:rPr>
              <a:t>EXPERIENCE (Current Org</a:t>
            </a: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latin typeface="Arial Black (Headings)"/>
                <a:ea typeface="SimSun" pitchFamily="2"/>
                <a:cs typeface="Arial" panose="020B0604020202020204" pitchFamily="34" charset="0"/>
              </a:rPr>
              <a:t>: Persistent)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A5A5A5"/>
              </a:solidFill>
              <a:effectLst/>
              <a:uLnTx/>
              <a:uFillTx/>
              <a:latin typeface="Arial Black (Headings)"/>
              <a:ea typeface="SimSun" pitchFamily="2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73EB6A-1F81-702C-C45F-69972D8B0EA7}"/>
              </a:ext>
            </a:extLst>
          </p:cNvPr>
          <p:cNvSpPr txBox="1"/>
          <p:nvPr/>
        </p:nvSpPr>
        <p:spPr>
          <a:xfrm>
            <a:off x="4769018" y="666349"/>
            <a:ext cx="7409238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Data Engineering Specialist:</a:t>
            </a:r>
            <a:r>
              <a:rPr lang="en-US" sz="1100" dirty="0"/>
              <a:t> Spearheaded ETL processes and big data solutions using Hadoop, Teradata, Snowflake, and Python scripting, reducing data processing time by 40% across enterprise pipelines.</a:t>
            </a:r>
          </a:p>
          <a:p>
            <a:endParaRPr lang="en-US" sz="1100" dirty="0"/>
          </a:p>
          <a:p>
            <a:r>
              <a:rPr lang="en-US" sz="1100" b="1" dirty="0"/>
              <a:t>Quality Assurance Leader:</a:t>
            </a:r>
            <a:r>
              <a:rPr lang="en-US" sz="1100" dirty="0"/>
              <a:t> Designed and executed robust testing strategies for APIs and data warehouses with </a:t>
            </a:r>
            <a:r>
              <a:rPr lang="en-US" sz="1100" dirty="0" err="1"/>
              <a:t>iCEDQ</a:t>
            </a:r>
            <a:r>
              <a:rPr lang="en-US" sz="1100" dirty="0"/>
              <a:t>, ensuring 99.9% accuracy in mission-critical analytics platforms.</a:t>
            </a:r>
          </a:p>
          <a:p>
            <a:endParaRPr lang="en-US" sz="1100" dirty="0"/>
          </a:p>
          <a:p>
            <a:r>
              <a:rPr lang="en-US" sz="1100" b="1" dirty="0"/>
              <a:t>Strategic Requirements Analyst:</a:t>
            </a:r>
            <a:r>
              <a:rPr lang="en-US" sz="1100" dirty="0"/>
              <a:t> Partnered with business teams to translate objectives into actionable specs, leveraging analytical insights to bridge gaps between user needs and system capabilities.</a:t>
            </a:r>
          </a:p>
          <a:p>
            <a:endParaRPr lang="en-US" sz="1100" dirty="0"/>
          </a:p>
          <a:p>
            <a:r>
              <a:rPr lang="en-US" sz="1100" b="1" dirty="0"/>
              <a:t>Agile Delivery Expert</a:t>
            </a:r>
            <a:r>
              <a:rPr lang="en-US" sz="1100" dirty="0"/>
              <a:t>: Actively contributed to scrum ceremonies, refining user stories and test scenarios to boost team velocity and product quality in dynamic development cycles.</a:t>
            </a:r>
          </a:p>
          <a:p>
            <a:endParaRPr lang="en-US" sz="1100" dirty="0"/>
          </a:p>
          <a:p>
            <a:r>
              <a:rPr lang="en-US" sz="1100" b="1" dirty="0"/>
              <a:t>Stakeholder Engagement Pro:</a:t>
            </a:r>
            <a:r>
              <a:rPr lang="en-US" sz="1100" dirty="0"/>
              <a:t> Directed cross-team workshops and presentations, building trust and alignment to drive project success and timely resolutions.</a:t>
            </a:r>
          </a:p>
          <a:p>
            <a:endParaRPr lang="en-US" sz="1100" dirty="0"/>
          </a:p>
          <a:p>
            <a:r>
              <a:rPr lang="en-US" sz="1100" b="1" dirty="0"/>
              <a:t>Results-Driven Manager: </a:t>
            </a:r>
            <a:r>
              <a:rPr lang="en-US" sz="1100" dirty="0"/>
              <a:t>Excelled in prioritizing tasks and managing end-to-end deliveries, consistently hitting KPIs under tight deadlines while mentoring juniors on best practices.</a:t>
            </a:r>
          </a:p>
        </p:txBody>
      </p:sp>
    </p:spTree>
    <p:extLst>
      <p:ext uri="{BB962C8B-B14F-4D97-AF65-F5344CB8AC3E}">
        <p14:creationId xmlns:p14="http://schemas.microsoft.com/office/powerpoint/2010/main" val="134307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26777"/>
    </mc:Choice>
    <mc:Fallback xmlns="">
      <p:transition spd="slow" advTm="272677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9B766-E992-5041-003E-14FDD13C4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D2A3246-B631-C545-DDFD-7BC63050C2F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A846AAA6-256D-FA7B-41C7-BB76ACF550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Straight Connector 12">
            <a:extLst>
              <a:ext uri="{FF2B5EF4-FFF2-40B4-BE49-F238E27FC236}">
                <a16:creationId xmlns:a16="http://schemas.microsoft.com/office/drawing/2014/main" id="{7CDDE7D0-611D-9F0B-8FBB-4F8CB9B05721}"/>
              </a:ext>
            </a:extLst>
          </p:cNvPr>
          <p:cNvCxnSpPr>
            <a:cxnSpLocks/>
          </p:cNvCxnSpPr>
          <p:nvPr/>
        </p:nvCxnSpPr>
        <p:spPr>
          <a:xfrm>
            <a:off x="4550623" y="240435"/>
            <a:ext cx="0" cy="6073298"/>
          </a:xfrm>
          <a:prstGeom prst="straightConnector1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9C6956A-3278-E058-F636-59BF8416205A}"/>
              </a:ext>
            </a:extLst>
          </p:cNvPr>
          <p:cNvSpPr txBox="1">
            <a:spLocks/>
          </p:cNvSpPr>
          <p:nvPr/>
        </p:nvSpPr>
        <p:spPr>
          <a:xfrm>
            <a:off x="381130" y="1879479"/>
            <a:ext cx="4019982" cy="302082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172765" indent="-172765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 b="0"/>
            </a:lvl1pPr>
            <a:lvl2pPr marL="0" lvl="1" indent="0" defTabSz="228600" fontAlgn="base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Arial" panose="020B0604020202020204" pitchFamily="34" charset="0"/>
              <a:buNone/>
              <a:defRPr sz="1100" b="1">
                <a:cs typeface="Arial" panose="020B0604020202020204" pitchFamily="34" charset="0"/>
              </a:defRPr>
            </a:lvl2pPr>
            <a:lvl3pPr marL="4572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200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F455DC42-5EC4-965B-031C-44803CE603E1}"/>
              </a:ext>
            </a:extLst>
          </p:cNvPr>
          <p:cNvSpPr txBox="1">
            <a:spLocks/>
          </p:cNvSpPr>
          <p:nvPr/>
        </p:nvSpPr>
        <p:spPr>
          <a:xfrm>
            <a:off x="252573" y="5856940"/>
            <a:ext cx="1917265" cy="3429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171416" indent="-171416" defTabSz="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900" b="0" cap="none">
                <a:cs typeface="Arial" panose="020B0604020202020204" pitchFamily="34" charset="0"/>
              </a:defRPr>
            </a:lvl1pPr>
            <a:lvl2pPr marL="182765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1100"/>
            </a:lvl2pPr>
            <a:lvl3pPr marL="365532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26AEBD1E-82F5-6237-B87B-64E6327325C4}"/>
              </a:ext>
            </a:extLst>
          </p:cNvPr>
          <p:cNvSpPr txBox="1">
            <a:spLocks/>
          </p:cNvSpPr>
          <p:nvPr/>
        </p:nvSpPr>
        <p:spPr>
          <a:xfrm>
            <a:off x="303036" y="4800399"/>
            <a:ext cx="1917265" cy="11996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71416" indent="-171416" defTabSz="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900" b="0" cap="none" dirty="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82765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lang="en-US" sz="1100" dirty="0" smtClean="0"/>
            </a:lvl2pPr>
            <a:lvl3pPr marL="365532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dirty="0" smtClean="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100" dirty="0" smtClean="0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dirty="0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endParaRPr lang="en-US" dirty="0">
              <a:latin typeface="+mn-lt"/>
            </a:endParaRP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B4151206-846B-6FE7-F64C-2269B6469CD9}"/>
              </a:ext>
            </a:extLst>
          </p:cNvPr>
          <p:cNvSpPr txBox="1">
            <a:spLocks/>
          </p:cNvSpPr>
          <p:nvPr/>
        </p:nvSpPr>
        <p:spPr>
          <a:xfrm>
            <a:off x="2462582" y="4828750"/>
            <a:ext cx="1917265" cy="156226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171416" indent="-171416" defTabSz="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900" b="0" cap="none">
                <a:cs typeface="Arial" panose="020B0604020202020204" pitchFamily="34" charset="0"/>
              </a:defRPr>
            </a:lvl1pPr>
            <a:lvl2pPr marL="182765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1100"/>
            </a:lvl2pPr>
            <a:lvl3pPr marL="365532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59FAB83C-75AA-55C0-5BE3-D4D6923C4149}"/>
              </a:ext>
            </a:extLst>
          </p:cNvPr>
          <p:cNvSpPr txBox="1">
            <a:spLocks/>
          </p:cNvSpPr>
          <p:nvPr/>
        </p:nvSpPr>
        <p:spPr>
          <a:xfrm>
            <a:off x="1789523" y="818542"/>
            <a:ext cx="1933603" cy="2051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2000" b="0" i="0" kern="1200" cap="all" baseline="0" dirty="0">
                <a:solidFill>
                  <a:schemeClr val="accent4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  <a:lvl2pPr marL="182765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lang="en-US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532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 b="1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025AD40E-0288-BD41-0A04-93BB6AE537FC}"/>
              </a:ext>
            </a:extLst>
          </p:cNvPr>
          <p:cNvSpPr txBox="1">
            <a:spLocks/>
          </p:cNvSpPr>
          <p:nvPr/>
        </p:nvSpPr>
        <p:spPr>
          <a:xfrm>
            <a:off x="1498912" y="4498564"/>
            <a:ext cx="3263381" cy="1628123"/>
          </a:xfrm>
          <a:prstGeom prst="rect">
            <a:avLst/>
          </a:prstGeom>
        </p:spPr>
        <p:txBody>
          <a:bodyPr vert="horz" lIns="0" tIns="0" rIns="0" bIns="72000" numCol="1" rtlCol="0">
            <a:noAutofit/>
          </a:bodyPr>
          <a:lstStyle>
            <a:lvl1pPr marL="226920" indent="-171381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630" indent="-23009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300"/>
              </a:spcAft>
            </a:pPr>
            <a:endParaRPr lang="de-DE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B85C1EFA-79C0-5A9A-2B6E-2EA66CA9EB3B}"/>
              </a:ext>
            </a:extLst>
          </p:cNvPr>
          <p:cNvSpPr txBox="1">
            <a:spLocks/>
          </p:cNvSpPr>
          <p:nvPr/>
        </p:nvSpPr>
        <p:spPr>
          <a:xfrm>
            <a:off x="214507" y="4584243"/>
            <a:ext cx="1297732" cy="891472"/>
          </a:xfrm>
          <a:prstGeom prst="rect">
            <a:avLst/>
          </a:prstGeom>
        </p:spPr>
        <p:txBody>
          <a:bodyPr vert="horz" lIns="0" tIns="0" rIns="0" bIns="72000" rtlCol="0">
            <a:noAutofit/>
          </a:bodyPr>
          <a:lstStyle>
            <a:lvl1pPr marL="226920" indent="-171381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630" indent="-23009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0618" marR="0" lvl="1" indent="-228503" algn="just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SG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新細明體" charset="-120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16A337D-C62C-6E97-8461-7A32B9D5E037}"/>
              </a:ext>
            </a:extLst>
          </p:cNvPr>
          <p:cNvSpPr txBox="1"/>
          <p:nvPr/>
        </p:nvSpPr>
        <p:spPr>
          <a:xfrm>
            <a:off x="2854518" y="11263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F375E4-9C96-BBF7-91A8-07822DE06D61}"/>
              </a:ext>
            </a:extLst>
          </p:cNvPr>
          <p:cNvSpPr txBox="1"/>
          <p:nvPr/>
        </p:nvSpPr>
        <p:spPr>
          <a:xfrm>
            <a:off x="2854518" y="11263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CBCE3F1-F96E-AAC6-AE91-15D58074687C}"/>
              </a:ext>
            </a:extLst>
          </p:cNvPr>
          <p:cNvSpPr txBox="1">
            <a:spLocks/>
          </p:cNvSpPr>
          <p:nvPr/>
        </p:nvSpPr>
        <p:spPr>
          <a:xfrm>
            <a:off x="612802" y="2273756"/>
            <a:ext cx="3165300" cy="2554993"/>
          </a:xfrm>
          <a:prstGeom prst="rect">
            <a:avLst/>
          </a:prstGeom>
        </p:spPr>
        <p:txBody>
          <a:bodyPr vert="horz" lIns="0" tIns="0" rIns="0" bIns="72000" rtlCol="0">
            <a:noAutofit/>
          </a:bodyPr>
          <a:lstStyle>
            <a:lvl1pPr marL="226920" indent="-171381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630" indent="-23009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5539" marR="0" lvl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+mn-ea"/>
              <a:cs typeface="+mn-cs"/>
            </a:endParaRPr>
          </a:p>
          <a:p>
            <a:pPr marL="230618" marR="0" lvl="1" indent="-228503" algn="just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SG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新細明體" charset="-120"/>
              <a:cs typeface="+mn-cs"/>
            </a:endParaRP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529364B4-C929-C241-9761-2D897CF32532}"/>
              </a:ext>
            </a:extLst>
          </p:cNvPr>
          <p:cNvSpPr txBox="1">
            <a:spLocks/>
          </p:cNvSpPr>
          <p:nvPr/>
        </p:nvSpPr>
        <p:spPr>
          <a:xfrm>
            <a:off x="356030" y="357128"/>
            <a:ext cx="3082221" cy="461413"/>
          </a:xfrm>
          <a:prstGeom prst="rect">
            <a:avLst/>
          </a:prstGeom>
        </p:spPr>
        <p:txBody>
          <a:bodyPr vert="horz" lIns="0" tIns="0" rIns="0" bIns="72000" rtlCol="0">
            <a:noAutofit/>
          </a:bodyPr>
          <a:lstStyle>
            <a:lvl1pPr marL="226920" indent="-171381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630" indent="-23009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Certifications/Achievements, Total exp :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/>
              </a:rPr>
              <a:t>https://www.linkedin.com/in/jaingourav999/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+mn-ea"/>
              <a:cs typeface="+mn-cs"/>
            </a:endParaRPr>
          </a:p>
          <a:p>
            <a:pPr marL="230618" marR="0" lvl="1" indent="-228503" algn="just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SG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新細明體" charset="-120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21AFC2-9381-20BA-7EA4-91623DAACA3D}"/>
              </a:ext>
            </a:extLst>
          </p:cNvPr>
          <p:cNvSpPr txBox="1"/>
          <p:nvPr/>
        </p:nvSpPr>
        <p:spPr>
          <a:xfrm>
            <a:off x="503274" y="846474"/>
            <a:ext cx="3530001" cy="14272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14FD0BB-7717-692B-2FA4-9EB695E8B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8428369"/>
              </p:ext>
            </p:extLst>
          </p:nvPr>
        </p:nvGraphicFramePr>
        <p:xfrm>
          <a:off x="408740" y="787636"/>
          <a:ext cx="3964761" cy="229584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01083">
                  <a:extLst>
                    <a:ext uri="{9D8B030D-6E8A-4147-A177-3AD203B41FA5}">
                      <a16:colId xmlns:a16="http://schemas.microsoft.com/office/drawing/2014/main" val="2221999178"/>
                    </a:ext>
                  </a:extLst>
                </a:gridCol>
                <a:gridCol w="1542091">
                  <a:extLst>
                    <a:ext uri="{9D8B030D-6E8A-4147-A177-3AD203B41FA5}">
                      <a16:colId xmlns:a16="http://schemas.microsoft.com/office/drawing/2014/main" val="2852050472"/>
                    </a:ext>
                  </a:extLst>
                </a:gridCol>
                <a:gridCol w="1321587">
                  <a:extLst>
                    <a:ext uri="{9D8B030D-6E8A-4147-A177-3AD203B41FA5}">
                      <a16:colId xmlns:a16="http://schemas.microsoft.com/office/drawing/2014/main" val="3687725787"/>
                    </a:ext>
                  </a:extLst>
                </a:gridCol>
              </a:tblGrid>
              <a:tr h="33856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Org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Duration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5847162"/>
                  </a:ext>
                </a:extLst>
              </a:tr>
              <a:tr h="338563">
                <a:tc>
                  <a:txBody>
                    <a:bodyPr/>
                    <a:lstStyle/>
                    <a:p>
                      <a:r>
                        <a:rPr lang="en-US" sz="1100" dirty="0"/>
                        <a:t>Architect/Manager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Persistent, Pune. India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May 2025-till date.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2892009"/>
                  </a:ext>
                </a:extLst>
              </a:tr>
              <a:tr h="338563">
                <a:tc>
                  <a:txBody>
                    <a:bodyPr/>
                    <a:lstStyle/>
                    <a:p>
                      <a:r>
                        <a:rPr lang="en-US" sz="1100" dirty="0"/>
                        <a:t>Associate QA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Accenture, Pune (India)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Oct 2015-May 2025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0452449"/>
                  </a:ext>
                </a:extLst>
              </a:tr>
              <a:tr h="338563">
                <a:tc>
                  <a:txBody>
                    <a:bodyPr/>
                    <a:lstStyle/>
                    <a:p>
                      <a:r>
                        <a:rPr lang="en-US" sz="1100" dirty="0"/>
                        <a:t>Senior QA (level-1)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eInfochips(Ahmedabad)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Jan 2013-Oct 2015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08047"/>
                  </a:ext>
                </a:extLst>
              </a:tr>
              <a:tr h="338563">
                <a:tc>
                  <a:txBody>
                    <a:bodyPr/>
                    <a:lstStyle/>
                    <a:p>
                      <a:r>
                        <a:rPr lang="en-US" sz="1100" dirty="0"/>
                        <a:t>QA Eng.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AMD, Hyderabad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Oct 2011-Nov 2012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9532081"/>
                  </a:ext>
                </a:extLst>
              </a:tr>
              <a:tr h="338563">
                <a:tc>
                  <a:txBody>
                    <a:bodyPr/>
                    <a:lstStyle/>
                    <a:p>
                      <a:r>
                        <a:rPr lang="en-US" sz="1100" dirty="0"/>
                        <a:t>QA Analyst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EA Games, Hyderabad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May 2010-Oct 2011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8025186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5FE0D5B2-2FF4-F753-814D-692A2DD8453C}"/>
              </a:ext>
            </a:extLst>
          </p:cNvPr>
          <p:cNvSpPr txBox="1"/>
          <p:nvPr/>
        </p:nvSpPr>
        <p:spPr>
          <a:xfrm>
            <a:off x="214507" y="3429000"/>
            <a:ext cx="4158994" cy="3339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u="sng" strike="noStrike" baseline="0" dirty="0">
                <a:solidFill>
                  <a:srgbClr val="EC7C30"/>
                </a:solidFill>
                <a:latin typeface="Calibri" panose="020F0502020204030204" pitchFamily="34" charset="0"/>
              </a:rPr>
              <a:t>Roles and Responsibilities </a:t>
            </a:r>
          </a:p>
          <a:p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Good knowledge of cloud technology and migrating the test code from the on-premise platform to the cloud. </a:t>
            </a:r>
          </a:p>
          <a:p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Sound knowledge of third-party tools called </a:t>
            </a:r>
            <a:r>
              <a:rPr lang="en-US" sz="1100" b="1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Saucelabs</a:t>
            </a:r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, </a:t>
            </a:r>
            <a:r>
              <a:rPr lang="en-US" sz="11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Lamdatest</a:t>
            </a:r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. </a:t>
            </a:r>
          </a:p>
          <a:p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Creating a comprehensive test strategy and test plan that outlines the testing objectives, scope, and approach, defining test environments, test schedules, resource allocations, and test deliverables. </a:t>
            </a:r>
          </a:p>
          <a:p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Creating and providing the dashboard to clients (especially APAC and UK regions) by using </a:t>
            </a:r>
            <a:r>
              <a:rPr lang="en-US" sz="11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Power BI</a:t>
            </a:r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and </a:t>
            </a:r>
            <a:r>
              <a:rPr lang="en-US" sz="11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MS Excel</a:t>
            </a:r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. </a:t>
            </a:r>
          </a:p>
          <a:p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Building and leading the team of QA, assigning tasks, and managing their workloads, providing guidance and mentoring to the team members, and promoting collaborative and productive work environments. </a:t>
            </a:r>
          </a:p>
          <a:p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Estimating the testing efforts, resources, and budget required for the project. </a:t>
            </a:r>
          </a:p>
          <a:p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Establishing appropriate test metrics, and KPIs to measure the effectiveness and efficiency of the testing process. </a:t>
            </a:r>
          </a:p>
          <a:p>
            <a:endParaRPr lang="en-US" sz="10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DDB4661-C45E-6A6B-DA3D-927D50F25B2C}"/>
              </a:ext>
            </a:extLst>
          </p:cNvPr>
          <p:cNvSpPr txBox="1"/>
          <p:nvPr/>
        </p:nvSpPr>
        <p:spPr>
          <a:xfrm>
            <a:off x="4794439" y="4709635"/>
            <a:ext cx="7130663" cy="1800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sng" strike="noStrike" kern="1200" cap="none" spc="0" normalizeH="0" baseline="0" noProof="0" dirty="0">
                <a:ln>
                  <a:noFill/>
                </a:ln>
                <a:solidFill>
                  <a:srgbClr val="EC7C3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Managerial skills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• One of the Lead Mentors for new joiners in Accenture India DU.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•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Experience in identifying and analyzing the risks and their potential business impact to determine proper prioritization of the testing activities.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•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Having experience of 2 years as a scrum master. Strong experience in creating Kanban board, Metrix, dashboards in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JIRA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,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Confluence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,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TFS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, test case management tools, and version management software.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•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Experienced QA Lead on-shore and off-shore teams, including hiring, mentoring, and performance appraisals.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• Support to manager for creating the RFP documents.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•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Actively involved in CSR activities, NGO donations, women empowerment, and supporting the LGBTIQ+ community in workplaces, along with Fun activities in the team. 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EC211E-FCCE-EB01-9019-CBBF53D04C6C}"/>
              </a:ext>
            </a:extLst>
          </p:cNvPr>
          <p:cNvSpPr txBox="1"/>
          <p:nvPr/>
        </p:nvSpPr>
        <p:spPr>
          <a:xfrm>
            <a:off x="4708761" y="2153025"/>
            <a:ext cx="7248031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sng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e-Commerce domain (B2B)|Test Associate Manager in Adidas and Dyson project [April 2021-December 2021]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Enterprise application automation by using selenium with Python. API testing by Rest assured with java. 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Led a team of 10 people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providing guidance and direction to achieve goals.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Automated critical 316 P1 test cases out of 515 within this duration. Used Azure </a:t>
            </a:r>
            <a:r>
              <a:rPr lang="en-US" sz="1100" b="1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Devops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test cases, User stories, and Automation pipeline.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 on project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Understood B2B concepts. Applied more Selenium action classes to automate.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sng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sng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Public domain - Senior test lead in UK Govt Based project (Remove illegal immigrants) [Dec 2018- April 2021]</a:t>
            </a:r>
            <a:endParaRPr kumimoji="0" lang="en-US" sz="1100" b="0" i="0" u="sng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 on project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Learned AWS concepts and completed certification. Learned advanced BDD concepts.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77800" algn="l"/>
              </a:tabLst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FBF2D48-DB66-9461-8E07-507E98B543B8}"/>
              </a:ext>
            </a:extLst>
          </p:cNvPr>
          <p:cNvSpPr txBox="1"/>
          <p:nvPr/>
        </p:nvSpPr>
        <p:spPr>
          <a:xfrm>
            <a:off x="4700135" y="3513948"/>
            <a:ext cx="74706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5403" indent="-171450">
              <a:buFont typeface="Arial" panose="020B0604020202020204" pitchFamily="34" charset="0"/>
              <a:buChar char="•"/>
              <a:defRPr/>
            </a:pP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Designed and implemented the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cucumber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(BDD) with testing automation framework, using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selenium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webdriver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TestNG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POM,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Allure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reporting, and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docker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Kubernetes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AWS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environment. 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Successfully worked on the customization of the Automation framework using the concepts of cucumber-Google Guice dependency injection, JAVA 8/11.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Mainly involved in test merges, towards the complex environment and POC for supporting other vendors.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Implementing (with devops team) the CI-CD using Bitbucket, Maven, and Jenkins as part of the daily deliverables.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B18489-6A18-F2EE-BB2D-088BBE6F0D61}"/>
              </a:ext>
            </a:extLst>
          </p:cNvPr>
          <p:cNvSpPr txBox="1"/>
          <p:nvPr/>
        </p:nvSpPr>
        <p:spPr>
          <a:xfrm>
            <a:off x="4721400" y="324076"/>
            <a:ext cx="7248031" cy="1792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5403" lvl="0" indent="-171450">
              <a:buFont typeface="Arial" panose="020B0604020202020204" pitchFamily="34" charset="0"/>
              <a:buChar char="•"/>
              <a:defRPr/>
            </a:pPr>
            <a:r>
              <a:rPr lang="en-US" sz="1150" b="1" u="sng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Pod 3: Tech used: Selenium, java, Rest assured, Playwright, java, Jenkins | Application: Salesforce </a:t>
            </a:r>
            <a:endParaRPr lang="en-US" sz="1150" b="1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lvl="0" indent="-171450">
              <a:buFont typeface="Arial" panose="020B0604020202020204" pitchFamily="34" charset="0"/>
              <a:buChar char="•"/>
              <a:defRPr/>
            </a:pPr>
            <a:r>
              <a:rPr lang="en-US" sz="1100" b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(Salesforce specific) Framework Development: </a:t>
            </a:r>
            <a:r>
              <a:rPr lang="en-US" sz="110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Architected and implemented scalable test automation frameworks tailored for Salesforce applications, enhancing test efficiency and coverage. </a:t>
            </a:r>
          </a:p>
          <a:p>
            <a:pPr marL="225403" lvl="0" indent="-171450" defTabSz="914011">
              <a:buFont typeface="Arial" panose="020B0604020202020204" pitchFamily="34" charset="0"/>
              <a:buChar char="•"/>
              <a:defRPr/>
            </a:pPr>
            <a:r>
              <a:rPr lang="en-US" sz="1100" b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API Automation: </a:t>
            </a:r>
            <a:r>
              <a:rPr lang="en-US" sz="110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Led the development of API automation strategies using Rest Assured, resulting in a significant reduction in manual testing efforts. </a:t>
            </a:r>
          </a:p>
          <a:p>
            <a:pPr marL="225403" lvl="0" indent="-171450" defTabSz="914011">
              <a:buFont typeface="Arial" panose="020B0604020202020204" pitchFamily="34" charset="0"/>
              <a:buChar char="•"/>
              <a:defRPr/>
            </a:pPr>
            <a:r>
              <a:rPr lang="en-US" sz="1100" b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Cross-Cloud Expertise: </a:t>
            </a:r>
            <a:r>
              <a:rPr lang="en-US" sz="110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Managed test automation projects across multiple Salesforce clouds, ensuring seamless integration and functionality. </a:t>
            </a:r>
          </a:p>
          <a:p>
            <a:pPr marL="225403" lvl="0" indent="-171450" defTabSz="914011">
              <a:buFont typeface="Arial" panose="020B0604020202020204" pitchFamily="34" charset="0"/>
              <a:buChar char="•"/>
              <a:defRPr/>
            </a:pPr>
            <a:r>
              <a:rPr lang="en-US" sz="1100" b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Playwright Automation: </a:t>
            </a:r>
            <a:r>
              <a:rPr lang="en-US" sz="110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Done </a:t>
            </a:r>
            <a:r>
              <a:rPr lang="en-US" sz="1100" b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Migration from Selenium to Playwright</a:t>
            </a:r>
            <a:r>
              <a:rPr lang="en-US" sz="110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faster execution and automation of test cases.</a:t>
            </a:r>
          </a:p>
          <a:p>
            <a:pPr marL="53953" lvl="0" defTabSz="914011">
              <a:defRPr/>
            </a:pPr>
            <a:endParaRPr lang="en-US" sz="1100" b="1" u="sng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785253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7bef0ac6-58b2-4acb-91cf-d344f8864752}" enabled="1" method="Privileged" siteId="{e0793d39-0939-496d-b129-198edd916fe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2454</TotalTime>
  <Words>1421</Words>
  <Application>Microsoft Office PowerPoint</Application>
  <PresentationFormat>Widescreen</PresentationFormat>
  <Paragraphs>124</Paragraphs>
  <Slides>2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Arial Black (Headings)</vt:lpstr>
      <vt:lpstr>Calibri</vt:lpstr>
      <vt:lpstr>Calibri Light</vt:lpstr>
      <vt:lpstr>Graphik Light</vt:lpstr>
      <vt:lpstr>Office Theme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Pillai, Sarin</dc:creator>
  <cp:lastModifiedBy>Jain, Gourav</cp:lastModifiedBy>
  <cp:revision>190</cp:revision>
  <dcterms:created xsi:type="dcterms:W3CDTF">2023-02-08T14:25:43Z</dcterms:created>
  <dcterms:modified xsi:type="dcterms:W3CDTF">2026-02-10T08:46:03Z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b0daab4-b646-43ae-ac6e-8cb22112916e_Enabled">
    <vt:lpwstr>true</vt:lpwstr>
  </property>
  <property fmtid="{D5CDD505-2E9C-101B-9397-08002B2CF9AE}" pid="3" name="MSIP_Label_4b0daab4-b646-43ae-ac6e-8cb22112916e_SetDate">
    <vt:lpwstr>2024-01-02T10:58:12Z</vt:lpwstr>
  </property>
  <property fmtid="{D5CDD505-2E9C-101B-9397-08002B2CF9AE}" pid="4" name="MSIP_Label_4b0daab4-b646-43ae-ac6e-8cb22112916e_Method">
    <vt:lpwstr>Privileged</vt:lpwstr>
  </property>
  <property fmtid="{D5CDD505-2E9C-101B-9397-08002B2CF9AE}" pid="5" name="MSIP_Label_4b0daab4-b646-43ae-ac6e-8cb22112916e_Name">
    <vt:lpwstr>4b0daab4-b646-43ae-ac6e-8cb22112916e</vt:lpwstr>
  </property>
  <property fmtid="{D5CDD505-2E9C-101B-9397-08002B2CF9AE}" pid="6" name="MSIP_Label_4b0daab4-b646-43ae-ac6e-8cb22112916e_SiteId">
    <vt:lpwstr>b6e8236b-ceb2-401d-9169-2917d0b07d48</vt:lpwstr>
  </property>
  <property fmtid="{D5CDD505-2E9C-101B-9397-08002B2CF9AE}" pid="7" name="MSIP_Label_4b0daab4-b646-43ae-ac6e-8cb22112916e_ActionId">
    <vt:lpwstr>d1d23d40-00ff-4558-bc28-7f3ef2f6eb6a</vt:lpwstr>
  </property>
  <property fmtid="{D5CDD505-2E9C-101B-9397-08002B2CF9AE}" pid="8" name="MSIP_Label_4b0daab4-b646-43ae-ac6e-8cb22112916e_ContentBits">
    <vt:lpwstr>0</vt:lpwstr>
  </property>
</Properties>
</file>