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596" r:id="rId2"/>
    <p:sldId id="214747059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3447" autoAdjust="0"/>
  </p:normalViewPr>
  <p:slideViewPr>
    <p:cSldViewPr snapToGrid="0">
      <p:cViewPr varScale="1">
        <p:scale>
          <a:sx n="89" d="100"/>
          <a:sy n="89" d="100"/>
        </p:scale>
        <p:origin x="893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BAFF9-FA33-4061-B456-9D8A3649E610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46F24-D884-44A4-9F12-C5CDC2F97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1E33-EEFC-EF9A-163B-16FCBB17D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DA36E-AC66-36C4-4A48-7AE638ED9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D6F1C-9F27-348F-2936-1A28BD893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62EA0-C34A-CF10-AA5D-974247E3B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46F24-D884-44A4-9F12-C5CDC2F97E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05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7747-9C35-2B97-876B-B8275761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972F1-6054-5E52-7A05-6A4E26200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113BF-BB31-13D8-D692-611834FDA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A4A50-7424-102A-F919-8DFDE2BC6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A13E-702A-0514-15F8-02BCABA9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C2D22-C031-13FD-07FA-499CB8095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6EB2-C215-4F78-1C83-DD60613B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0E73-FF51-11F9-33AB-2CDE8E0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1DF9-44B1-0112-D5E3-71C0DF25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0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A039-6CE9-DD96-1305-05EA6B05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F00C-006E-EF9F-C417-E0B0B7AE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7145-2BF3-8080-5DF3-49620F1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C2A8-B7A3-0FF5-95B9-FBE6695F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9221-899E-9D84-6C81-EEC1DED7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9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1219-05C9-7004-3916-19ED8158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8C97-777C-9B59-B5E1-72A2D047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32D0-4C52-5D55-3D02-4BFAE43C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57A4-1517-7DFD-F200-B88D7C62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BE34-721B-03F2-B67B-02A9A331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9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56AB-9554-CB3D-9117-EF275204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217A-F376-E7FE-43B8-AF57DD653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F8AA8-7B22-8816-3687-9E9AF2502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8D67-7D9F-922A-411A-E95B294B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D50C-732A-3F1B-2C6F-2925E18A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2E929-5822-44B9-EA23-5B9C4AC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E15F-F1C6-B87C-B6F5-A6F9265DA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4614-68A0-6DEA-84A1-0BD7D176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C494A-BF75-8CFC-0DB3-BF0854E25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2AB4-9A5F-EC30-2C41-2906A77EE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E8790-07C6-5D0B-670E-52B85FC8A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BC36E-425C-6897-286F-5408EEAA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BE37-A4EE-814B-4E15-931DED98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08394-A20D-8D30-89C1-495250FE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912-1A25-C3C1-A8DA-1A347371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C51C1-FBCD-07D9-116B-2598DE0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68A0C-A1B5-19A7-B240-8536CFD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62F3-F1E2-FA5B-190E-51BB34F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1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277AD-50F4-14F3-8010-0D2B1478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5DCFB-5A76-6E0E-D20F-75010F72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5C70-74E0-5EEE-BE8A-A6A19328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6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41F7-07EF-9287-F9DD-FDE1902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C513-D53B-69DA-20D8-E24BDA9B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674C4-63FD-47D5-C97A-B161ED6C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1B4C-E0DB-51A0-60FA-EB002260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7406-0F3A-7AD6-7F71-420D755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BF71F-DA36-482C-DE75-5F306A6F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4575-5A9A-B5A9-106B-DD331981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8929F-9861-4ECF-9764-07E068227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C4BA4-1915-8E1C-A8F0-ACA71707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4B1AE-9EAB-ADF1-7EBB-E3C960FA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539E8-A015-2E9B-221C-3628B82A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FF3AA-1CFE-A76A-32DA-1957A119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C314-51BD-124D-EF6D-E7CD335B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FDF89-F4B8-5320-6120-4166BADBF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8E76-AB5C-1C07-9012-7097DBC7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D4C35-5C99-DAC3-8961-6769886A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FA04C-2283-E2E7-B722-BD778F47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02144-FCFE-A694-506A-E87F21C8C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691FC-7B5F-2ECA-8848-4BF8CC0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E6F3-CAB6-8C1C-DC10-DCC7FA57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1608-6609-1BC0-91B9-43B98B4F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3F7F-C5F1-E4C4-90EC-98188956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7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64EBE-9814-B203-B74D-4CB3E3D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3721-9AB2-50D9-D6F3-8E43AFAC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4164-B25F-FBF5-4C48-8566212F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FA0DE-BE66-440E-8742-68E390E8300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84-AF4F-7E5B-08C5-3D677FBF9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2642-165D-F73C-856C-E29791A71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8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jaingourav999/" TargetMode="External"/><Relationship Id="rId3" Type="http://schemas.openxmlformats.org/officeDocument/2006/relationships/notesSlide" Target="../notesSlides/notesSlide1.xml"/><Relationship Id="rId7" Type="http://schemas.openxmlformats.org/officeDocument/2006/relationships/hyperlink" Target="https://github.com/gourav999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hyperlink" Target="https://www.linkedin.com/posts/jaingourav999_people-leadership-credential-chapter-1-activity-7302569438824833024-hHOo?utm_source=share&amp;utm_medium=member_desktop&amp;rcm=ACoAAAL7QG4B3HOM_wm3Yzo6_eXu2iCPqt9YoP0" TargetMode="External"/><Relationship Id="rId11" Type="http://schemas.openxmlformats.org/officeDocument/2006/relationships/hyperlink" Target="https://jaingourav999.blogspot.com/" TargetMode="External"/><Relationship Id="rId5" Type="http://schemas.openxmlformats.org/officeDocument/2006/relationships/image" Target="../media/image1.emf"/><Relationship Id="rId10" Type="http://schemas.openxmlformats.org/officeDocument/2006/relationships/hyperlink" Target="mailto:Gourav.b.jain@accenture.com" TargetMode="External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hyperlink" Target="https://www.linkedin.com/in/jaingourav999/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A937-B284-ADA7-C860-A9E199C1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9C12FB8-D77F-9EDD-46A1-2DFE1EB87C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cnBodyText_ID_27664">
            <a:extLst>
              <a:ext uri="{FF2B5EF4-FFF2-40B4-BE49-F238E27FC236}">
                <a16:creationId xmlns:a16="http://schemas.microsoft.com/office/drawing/2014/main" id="{403661EE-A41D-1C59-2E59-5477DD5AEC6E}"/>
              </a:ext>
            </a:extLst>
          </p:cNvPr>
          <p:cNvSpPr/>
          <p:nvPr/>
        </p:nvSpPr>
        <p:spPr>
          <a:xfrm>
            <a:off x="214687" y="1305863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PROFESSIONAL BACKGROUND (TECHNICAL)</a:t>
            </a:r>
          </a:p>
        </p:txBody>
      </p:sp>
      <p:sp>
        <p:nvSpPr>
          <p:cNvPr id="9" name="AcnBodyText_ID_27664">
            <a:extLst>
              <a:ext uri="{FF2B5EF4-FFF2-40B4-BE49-F238E27FC236}">
                <a16:creationId xmlns:a16="http://schemas.microsoft.com/office/drawing/2014/main" id="{33147B0E-B0D5-6EDB-41F8-3691E72DFA3A}"/>
              </a:ext>
            </a:extLst>
          </p:cNvPr>
          <p:cNvSpPr/>
          <p:nvPr/>
        </p:nvSpPr>
        <p:spPr>
          <a:xfrm>
            <a:off x="4787376" y="2377341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(Accenture, 9 Years)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1597C1EE-F017-BF3E-F134-C5AFD3301774}"/>
              </a:ext>
            </a:extLst>
          </p:cNvPr>
          <p:cNvCxnSpPr>
            <a:cxnSpLocks/>
          </p:cNvCxnSpPr>
          <p:nvPr/>
        </p:nvCxnSpPr>
        <p:spPr>
          <a:xfrm>
            <a:off x="4698494" y="576504"/>
            <a:ext cx="0" cy="6097251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AcnBodyText_ID_27664">
            <a:extLst>
              <a:ext uri="{FF2B5EF4-FFF2-40B4-BE49-F238E27FC236}">
                <a16:creationId xmlns:a16="http://schemas.microsoft.com/office/drawing/2014/main" id="{4A30BE28-076F-3D41-7D62-80C4268E8044}"/>
              </a:ext>
            </a:extLst>
          </p:cNvPr>
          <p:cNvSpPr/>
          <p:nvPr/>
        </p:nvSpPr>
        <p:spPr>
          <a:xfrm>
            <a:off x="316146" y="4195696"/>
            <a:ext cx="1685266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Industries</a:t>
            </a:r>
          </a:p>
        </p:txBody>
      </p:sp>
      <p:sp>
        <p:nvSpPr>
          <p:cNvPr id="12" name="AcnBodyText_ID_27664">
            <a:extLst>
              <a:ext uri="{FF2B5EF4-FFF2-40B4-BE49-F238E27FC236}">
                <a16:creationId xmlns:a16="http://schemas.microsoft.com/office/drawing/2014/main" id="{3B61395C-F749-DE1B-845E-25C0913A7448}"/>
              </a:ext>
            </a:extLst>
          </p:cNvPr>
          <p:cNvSpPr/>
          <p:nvPr/>
        </p:nvSpPr>
        <p:spPr>
          <a:xfrm>
            <a:off x="2185938" y="4092061"/>
            <a:ext cx="2144650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Applied Experience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621069-C0F7-2F68-EBAF-5B89D3AD9C93}"/>
              </a:ext>
            </a:extLst>
          </p:cNvPr>
          <p:cNvSpPr txBox="1">
            <a:spLocks/>
          </p:cNvSpPr>
          <p:nvPr/>
        </p:nvSpPr>
        <p:spPr>
          <a:xfrm>
            <a:off x="-28487" y="1448925"/>
            <a:ext cx="4756816" cy="22555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Exp: 15</a:t>
            </a:r>
            <a:r>
              <a:rPr lang="en-US" sz="115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.5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yrs. Designation: QA Architect/Manager. 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Automation roadmap, test strategy  for multiple projects.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with AI tools- GitHub Copilot(certified), Testim.io, Tabnine.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Leveraged AI tools (GitHub Copilot &amp; Tabnine) to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automate 70% of test code generation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boosting productivity by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65%. 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Accenture specific certifications: Certified DFA (Delivery foundation academy-4.0), PMFS (Project management foundation school),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 Leadership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Proficient in prompt engineering to optimize results in Gen AI.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Skilled in developing and customizing Test Automation frameworks, Automating test planning, authoring test artifacts, and overseeing metrics data collection.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robust test frameworks  and can be found on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8D33B400-E63C-E041-BB9A-3E6227B365DD}"/>
              </a:ext>
            </a:extLst>
          </p:cNvPr>
          <p:cNvSpPr txBox="1">
            <a:spLocks/>
          </p:cNvSpPr>
          <p:nvPr/>
        </p:nvSpPr>
        <p:spPr>
          <a:xfrm>
            <a:off x="273838" y="5761647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7F473012-B042-9822-C6FC-6FA58A4101E0}"/>
              </a:ext>
            </a:extLst>
          </p:cNvPr>
          <p:cNvSpPr txBox="1">
            <a:spLocks/>
          </p:cNvSpPr>
          <p:nvPr/>
        </p:nvSpPr>
        <p:spPr>
          <a:xfrm>
            <a:off x="324301" y="4705106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63A0A696-9C98-69C5-A285-35CAE0D92059}"/>
              </a:ext>
            </a:extLst>
          </p:cNvPr>
          <p:cNvSpPr txBox="1">
            <a:spLocks/>
          </p:cNvSpPr>
          <p:nvPr/>
        </p:nvSpPr>
        <p:spPr>
          <a:xfrm>
            <a:off x="2483847" y="4733457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4D3435D1-6228-8FCD-DB41-2F19D09095B2}"/>
              </a:ext>
            </a:extLst>
          </p:cNvPr>
          <p:cNvSpPr txBox="1">
            <a:spLocks/>
          </p:cNvSpPr>
          <p:nvPr/>
        </p:nvSpPr>
        <p:spPr>
          <a:xfrm>
            <a:off x="1282193" y="122420"/>
            <a:ext cx="10101572" cy="4431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hlinkClick r:id="rId8"/>
              </a:rPr>
              <a:t>AI Advocate Test Engineering Manager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/Architect</a:t>
            </a:r>
            <a:endParaRPr kumimoji="0" lang="de-DE" sz="2400" b="1" i="0" u="sng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F13E69D-4C69-8AEE-875A-2DD29919E78B}"/>
              </a:ext>
            </a:extLst>
          </p:cNvPr>
          <p:cNvSpPr txBox="1">
            <a:spLocks/>
          </p:cNvSpPr>
          <p:nvPr/>
        </p:nvSpPr>
        <p:spPr>
          <a:xfrm>
            <a:off x="1299156" y="451103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all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Gourav jain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all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7DCA923-1C32-5322-A100-ABC0F8EF1197}"/>
              </a:ext>
            </a:extLst>
          </p:cNvPr>
          <p:cNvSpPr txBox="1">
            <a:spLocks/>
          </p:cNvSpPr>
          <p:nvPr/>
        </p:nvSpPr>
        <p:spPr>
          <a:xfrm>
            <a:off x="1392581" y="4282216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Delivery management.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Test Automation (Both UI  and Rest/SOAP Apis)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automation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Playwright (microsoft),Selenium (4.0 Latest), Appium (V2.0-mobile app automation), Rest Assured, Postman (automation), Bruno, SOAPUI, Jest/Supertest, Pupteer, TOSCA, Cypress. 	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Prgramming language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java, typescript, Python</a:t>
            </a:r>
            <a:endParaRPr kumimoji="0" lang="de-DE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Cucumber BDD, Serenity, Allure, XSLT, HTML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DB-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DynamoDB, Postgres, MongoDB, SQL Server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Maven, Gradle. Jira, Git, Bitbucket.</a:t>
            </a: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Jenkins, Github actions.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(certifed developer assciate), MS Azure fundamentals(Certified), Azure DevOps</a:t>
            </a:r>
            <a:r>
              <a:rPr lang="de-DE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ADOBE AEM.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48C1474-DE7A-0BA7-29AF-EC69E5217BCA}"/>
              </a:ext>
            </a:extLst>
          </p:cNvPr>
          <p:cNvSpPr txBox="1">
            <a:spLocks/>
          </p:cNvSpPr>
          <p:nvPr/>
        </p:nvSpPr>
        <p:spPr>
          <a:xfrm>
            <a:off x="94849" y="4432881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(retail, wholesale banking, payments and mobile app)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</a:t>
            </a:r>
          </a:p>
          <a:p>
            <a:pPr lvl="0">
              <a:spcAft>
                <a:spcPts val="300"/>
              </a:spcAft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Salesforce/Software, SAP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B86E54D-56BF-CD69-4E13-E2FF673437EA}"/>
              </a:ext>
            </a:extLst>
          </p:cNvPr>
          <p:cNvSpPr txBox="1">
            <a:spLocks/>
          </p:cNvSpPr>
          <p:nvPr/>
        </p:nvSpPr>
        <p:spPr>
          <a:xfrm>
            <a:off x="4723272" y="2576687"/>
            <a:ext cx="7409239" cy="421794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53953" marR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7215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Banking domain- Test Associate Manager (Team size: 16 QA)- BNZ (Bank of New Zealand) [Jan 2022-</a:t>
            </a:r>
            <a:r>
              <a:rPr lang="en-US" sz="1100" b="1" u="sng" dirty="0">
                <a:solidFill>
                  <a:srgbClr val="ED7D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2025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Currently Leading the 2 pods and managing end-to-end deliverables using Accenture's delivery methods for seamless execution. Led QA representation in QBR sessions for Financial Close Tribes.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of test planning, test estimation, Automation coverage, and traceability matrix, ensured that projects were delivered within the timeline, and guided testing teams in applying best practices.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test automation coverage from 75% to ~88%. Used different tools on each pods.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1: Tech used: GitHub copilot, Playwright, Typescript, Java, Jenkins |Application: TFO| Domain: Wholesale banking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(UI Specific) Designed the UI automation by using Playwright with typescript.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Integration Testing: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automated tests by using Rest Assured, and BDD cucumber framework for API integrations between Salesforce and external systems, ensuring data integrity and system reliability.</a:t>
            </a: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2: Tech used: Jest-Supertest, </a:t>
            </a:r>
            <a:r>
              <a:rPr kumimoji="0" lang="en-US" sz="1150" b="1" i="0" u="sng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Typescript,Splunk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Jenkins| Application: General insurance API| Domain: Insurance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(API Specific) Worked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jest-Supertest based framework along with typescript.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the API’s along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DynamoDB validation and CloudWatch logs validation.</a:t>
            </a:r>
          </a:p>
          <a:p>
            <a:pPr marL="5395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3: Tech used: Selenium, java, Rest assured, Playwright, java, Jenkins | Application: Salesforce 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(Salesforce specific) Framework Development: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and implemented scalable test automation frameworks tailored for Salesforce applications, enhancing test efficiency and coverage.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the development of API automation strategies using Rest Assured, resulting in a significant reduction in manual testing efforts.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Cross-Cloud Expertise: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test automation projects across multiple Salesforce clouds, ensuring seamless integration and functionality. 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Playwright Automation: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from Selenium to Playwright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faster execution and automation of test cases.</a:t>
            </a: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Placeholder 11">
            <a:extLst>
              <a:ext uri="{FF2B5EF4-FFF2-40B4-BE49-F238E27FC236}">
                <a16:creationId xmlns:a16="http://schemas.microsoft.com/office/drawing/2014/main" id="{1867D661-A5CB-540C-9C9F-137A9504CE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54" b="15854"/>
          <a:stretch/>
        </p:blipFill>
        <p:spPr>
          <a:xfrm>
            <a:off x="158285" y="74434"/>
            <a:ext cx="1007831" cy="1032411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38E3D8E-835B-2182-13F1-CBB76AFEC0F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FF2F49-AEC8-D8DA-B316-13890328187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88CF33-234F-220C-883E-1A3F04D7E87D}"/>
              </a:ext>
            </a:extLst>
          </p:cNvPr>
          <p:cNvSpPr txBox="1"/>
          <p:nvPr/>
        </p:nvSpPr>
        <p:spPr>
          <a:xfrm>
            <a:off x="1697314" y="930407"/>
            <a:ext cx="2843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B72C7-06F4-CF26-F89A-A8C71CC43573}"/>
              </a:ext>
            </a:extLst>
          </p:cNvPr>
          <p:cNvSpPr txBox="1"/>
          <p:nvPr/>
        </p:nvSpPr>
        <p:spPr>
          <a:xfrm>
            <a:off x="1215906" y="622544"/>
            <a:ext cx="321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Email: 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Jaingourav999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Phone: +91-9601874688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/>
              </a:rPr>
              <a:t>LinkedIn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/>
              </a:rPr>
              <a:t>Blogs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cnBodyText_ID_27664">
            <a:extLst>
              <a:ext uri="{FF2B5EF4-FFF2-40B4-BE49-F238E27FC236}">
                <a16:creationId xmlns:a16="http://schemas.microsoft.com/office/drawing/2014/main" id="{0F5E17D7-289A-7CB9-9AF4-AAC9C4CB68BC}"/>
              </a:ext>
            </a:extLst>
          </p:cNvPr>
          <p:cNvSpPr/>
          <p:nvPr/>
        </p:nvSpPr>
        <p:spPr>
          <a:xfrm>
            <a:off x="4889890" y="521658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EXPERIENCE (Current Org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: Persistent)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A5A5A5"/>
              </a:solidFill>
              <a:effectLst/>
              <a:uLnTx/>
              <a:uFillTx/>
              <a:latin typeface="Arial Black (Headings)"/>
              <a:ea typeface="SimSun" pitchFamily="2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3EB6A-1F81-702C-C45F-69972D8B0EA7}"/>
              </a:ext>
            </a:extLst>
          </p:cNvPr>
          <p:cNvSpPr txBox="1"/>
          <p:nvPr/>
        </p:nvSpPr>
        <p:spPr>
          <a:xfrm>
            <a:off x="4741027" y="710622"/>
            <a:ext cx="7409238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011">
              <a:defRPr/>
            </a:pPr>
            <a:r>
              <a:rPr lang="en-US" sz="110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Healthcare Domain – Manager/Architect (Team Size: 8) – UnitedHealthcare, [May 2025 – Present]</a:t>
            </a:r>
            <a:r>
              <a:rPr kumimoji="0" lang="en-US" sz="11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pPr marR="0" lvl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Leading a 8-member QA team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testing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UnitedHealthcare’s website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Adobe Experience Manager (AEM).</a:t>
            </a:r>
          </a:p>
          <a:p>
            <a:pPr marL="17145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localization testing </a:t>
            </a: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3 </a:t>
            </a: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languages (French, Japanese</a:t>
            </a: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Arabic).</a:t>
            </a:r>
            <a:endParaRPr lang="en-US" sz="11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 Playwright + Cucumber + TypeScript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 framework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enabling faster and more structured regression testing.</a:t>
            </a:r>
          </a:p>
          <a:p>
            <a:pPr marL="171450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processes 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AEM components, templates, workflows, and content publishing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ensuring quality across authoring and delivery layers.</a:t>
            </a:r>
          </a:p>
          <a:p>
            <a:pPr marL="171450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Collaborated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AEM developers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owners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provided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UAT support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business teams for smoother releases.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07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6777"/>
    </mc:Choice>
    <mc:Fallback xmlns="">
      <p:transition spd="slow" advTm="27267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B766-E992-5041-003E-14FDD13C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D2A3246-B631-C545-DDFD-7BC63050C2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46AAA6-256D-FA7B-41C7-BB76ACF550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7CDDE7D0-611D-9F0B-8FBB-4F8CB9B05721}"/>
              </a:ext>
            </a:extLst>
          </p:cNvPr>
          <p:cNvCxnSpPr>
            <a:cxnSpLocks/>
          </p:cNvCxnSpPr>
          <p:nvPr/>
        </p:nvCxnSpPr>
        <p:spPr>
          <a:xfrm>
            <a:off x="4550623" y="240435"/>
            <a:ext cx="0" cy="6073298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C6956A-3278-E058-F636-59BF8416205A}"/>
              </a:ext>
            </a:extLst>
          </p:cNvPr>
          <p:cNvSpPr txBox="1">
            <a:spLocks/>
          </p:cNvSpPr>
          <p:nvPr/>
        </p:nvSpPr>
        <p:spPr>
          <a:xfrm>
            <a:off x="381130" y="1879479"/>
            <a:ext cx="4019982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455DC42-5EC4-965B-031C-44803CE603E1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6AEBD1E-82F5-6237-B87B-64E6327325C4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B4151206-846B-6FE7-F64C-2269B6469CD9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9FAB83C-75AA-55C0-5BE3-D4D6923C4149}"/>
              </a:ext>
            </a:extLst>
          </p:cNvPr>
          <p:cNvSpPr txBox="1">
            <a:spLocks/>
          </p:cNvSpPr>
          <p:nvPr/>
        </p:nvSpPr>
        <p:spPr>
          <a:xfrm>
            <a:off x="1789523" y="818542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25AD40E-0288-BD41-0A04-93BB6AE537FC}"/>
              </a:ext>
            </a:extLst>
          </p:cNvPr>
          <p:cNvSpPr txBox="1">
            <a:spLocks/>
          </p:cNvSpPr>
          <p:nvPr/>
        </p:nvSpPr>
        <p:spPr>
          <a:xfrm>
            <a:off x="1498912" y="4498564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de-DE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85C1EFA-79C0-5A9A-2B6E-2EA66CA9EB3B}"/>
              </a:ext>
            </a:extLst>
          </p:cNvPr>
          <p:cNvSpPr txBox="1">
            <a:spLocks/>
          </p:cNvSpPr>
          <p:nvPr/>
        </p:nvSpPr>
        <p:spPr>
          <a:xfrm>
            <a:off x="214507" y="4584243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6A337D-C62C-6E97-8461-7A32B9D5E037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F375E4-9C96-BBF7-91A8-07822DE06D61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BCE3F1-F96E-AAC6-AE91-15D58074687C}"/>
              </a:ext>
            </a:extLst>
          </p:cNvPr>
          <p:cNvSpPr txBox="1">
            <a:spLocks/>
          </p:cNvSpPr>
          <p:nvPr/>
        </p:nvSpPr>
        <p:spPr>
          <a:xfrm>
            <a:off x="612802" y="2273756"/>
            <a:ext cx="3165300" cy="255499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9364B4-C929-C241-9761-2D897CF32532}"/>
              </a:ext>
            </a:extLst>
          </p:cNvPr>
          <p:cNvSpPr txBox="1">
            <a:spLocks/>
          </p:cNvSpPr>
          <p:nvPr/>
        </p:nvSpPr>
        <p:spPr>
          <a:xfrm>
            <a:off x="356030" y="357128"/>
            <a:ext cx="3082221" cy="46141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Certifications/Achievements, Total exp 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https://www.linkedin.com/in/jaingourav999/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1AFC2-9381-20BA-7EA4-91623DAACA3D}"/>
              </a:ext>
            </a:extLst>
          </p:cNvPr>
          <p:cNvSpPr txBox="1"/>
          <p:nvPr/>
        </p:nvSpPr>
        <p:spPr>
          <a:xfrm>
            <a:off x="503274" y="846474"/>
            <a:ext cx="3530001" cy="142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4FD0BB-7717-692B-2FA4-9EB695E8B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428369"/>
              </p:ext>
            </p:extLst>
          </p:nvPr>
        </p:nvGraphicFramePr>
        <p:xfrm>
          <a:off x="408740" y="787636"/>
          <a:ext cx="3964761" cy="22958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083">
                  <a:extLst>
                    <a:ext uri="{9D8B030D-6E8A-4147-A177-3AD203B41FA5}">
                      <a16:colId xmlns:a16="http://schemas.microsoft.com/office/drawing/2014/main" val="2221999178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2852050472"/>
                    </a:ext>
                  </a:extLst>
                </a:gridCol>
                <a:gridCol w="1321587">
                  <a:extLst>
                    <a:ext uri="{9D8B030D-6E8A-4147-A177-3AD203B41FA5}">
                      <a16:colId xmlns:a16="http://schemas.microsoft.com/office/drawing/2014/main" val="3687725787"/>
                    </a:ext>
                  </a:extLst>
                </a:gridCol>
              </a:tblGrid>
              <a:tr h="3385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47162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Architect/Manager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Persistent, Pune.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2025-till date.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9200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Associate QA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Accenture, Pune (India)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Oct 2015-May 2025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5244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Senior QA (level-1)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eInfochips(Ahmedabad)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Jan 2013-Oct 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8047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AMD,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2011-Nov 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32081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EA Games,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2010-Oct 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2518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FE0D5B2-2FF4-F753-814D-692A2DD8453C}"/>
              </a:ext>
            </a:extLst>
          </p:cNvPr>
          <p:cNvSpPr txBox="1"/>
          <p:nvPr/>
        </p:nvSpPr>
        <p:spPr>
          <a:xfrm>
            <a:off x="214507" y="3429000"/>
            <a:ext cx="4158994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strike="noStrike" baseline="0" dirty="0">
                <a:solidFill>
                  <a:srgbClr val="EC7C30"/>
                </a:solidFill>
                <a:latin typeface="Calibri" panose="020F0502020204030204" pitchFamily="34" charset="0"/>
              </a:rPr>
              <a:t>Roles and Responsibilities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Good knowledge of cloud technology and migrating the test code from the on-premise platform to the cloud.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Sound knowledge of third-party tools called </a:t>
            </a:r>
            <a:r>
              <a:rPr lang="en-US" sz="11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Saucelabs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Lamdatest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 comprehensive test strategy and test plan that outlines the testing objectives, scope, and approach, defining test environments, test schedules, resource allocations, and test deliverables.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and providing the dashboard to clients (especially APAC and UK regions) by using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Power BI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MS Excel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Building and leading the team of QA, assigning tasks, and managing their workloads, providing guidance and mentoring to the team members, and promoting collaborative and productive work environments.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Estimating the testing efforts, resources, and budget required for the project.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Establishing appropriate test metrics, and KPIs to measure the effectiveness and efficiency of the testing process. </a:t>
            </a:r>
          </a:p>
          <a:p>
            <a:endParaRPr lang="en-US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DB4661-C45E-6A6B-DA3D-927D50F25B2C}"/>
              </a:ext>
            </a:extLst>
          </p:cNvPr>
          <p:cNvSpPr txBox="1"/>
          <p:nvPr/>
        </p:nvSpPr>
        <p:spPr>
          <a:xfrm>
            <a:off x="4911803" y="2930531"/>
            <a:ext cx="7130663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EC7C3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Managerial skills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One of the Lead Mentors for new joiners in Accenture India DU.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 in identifying and analyzing the risks and their potential business impact to determine proper prioritization of the testing activities.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Having experience of 2 years as a scrum master. Strong experience in creating Kanban board, Metrix, dashboards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JIRA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Confluence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TFS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test case management tools, and version management software.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Experienced QA Lead on-shore and off-shore teams, including hiring, mentoring, and performance appraisals.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Support to manager for creating the RFP documents.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Actively involved in CSR activities, NGO donations, women empowerment, and supporting the LGBTIQ+ community in workplaces, along with Fun activities in the team.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C211E-FCCE-EB01-9019-CBBF53D04C6C}"/>
              </a:ext>
            </a:extLst>
          </p:cNvPr>
          <p:cNvSpPr txBox="1"/>
          <p:nvPr/>
        </p:nvSpPr>
        <p:spPr>
          <a:xfrm>
            <a:off x="4794439" y="240435"/>
            <a:ext cx="724803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 domain (B2B)|Test Associate Manager in Adidas and Dyson project [April 2021-December 2021]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application automation by using selenium with Python. API testing by Rest assured with java.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a team of 10 people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providing guidance and direction to achieve goals.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critical 316 P1 test cases out of 515 within this duration. Used Azure </a:t>
            </a:r>
            <a:r>
              <a:rPr lang="en-US" sz="11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test cases, User stories, and Automation pipeline.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Understood B2B concepts. Applied more Selenium action classes to automate.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 - Senior test lead in UK Govt Based project (Remove illegal immigrants) [Dec 2018- April 2021]</a:t>
            </a: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AWS concepts and completed certification. Learned advanced BDD concepts.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F2D48-DB66-9461-8E07-507E98B543B8}"/>
              </a:ext>
            </a:extLst>
          </p:cNvPr>
          <p:cNvSpPr txBox="1"/>
          <p:nvPr/>
        </p:nvSpPr>
        <p:spPr>
          <a:xfrm>
            <a:off x="4794439" y="1576100"/>
            <a:ext cx="7470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indent="-171450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the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(BDD) with testing automation framework, using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selenium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webdriver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POM,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Allure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reporting,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environment.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worked on the customization of the Automation framework using the concepts of cucumber-Google Guice dependency injection, JAVA 8/11.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involved in test merges, towards the complex environment and POC for supporting other vendors.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(with devops team) the CI-CD using Bitbucket, Maven, and Jenkins as part of the daily deliverables.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8525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2267</TotalTime>
  <Words>1377</Words>
  <Application>Microsoft Office PowerPoint</Application>
  <PresentationFormat>Widescreen</PresentationFormat>
  <Paragraphs>120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 (Headings)</vt:lpstr>
      <vt:lpstr>Calibri</vt:lpstr>
      <vt:lpstr>Calibri Light</vt:lpstr>
      <vt:lpstr>Graphik Light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Sarin</dc:creator>
  <cp:lastModifiedBy>Jain, Gourav</cp:lastModifiedBy>
  <cp:revision>178</cp:revision>
  <dcterms:created xsi:type="dcterms:W3CDTF">2023-02-08T14:25:43Z</dcterms:created>
  <dcterms:modified xsi:type="dcterms:W3CDTF">2026-06-30T10:18:12Z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0daab4-b646-43ae-ac6e-8cb22112916e_Enabled">
    <vt:lpwstr>true</vt:lpwstr>
  </property>
  <property fmtid="{D5CDD505-2E9C-101B-9397-08002B2CF9AE}" pid="3" name="MSIP_Label_4b0daab4-b646-43ae-ac6e-8cb22112916e_SetDate">
    <vt:lpwstr>2024-01-02T10:58:12Z</vt:lpwstr>
  </property>
  <property fmtid="{D5CDD505-2E9C-101B-9397-08002B2CF9AE}" pid="4" name="MSIP_Label_4b0daab4-b646-43ae-ac6e-8cb22112916e_Method">
    <vt:lpwstr>Privileged</vt:lpwstr>
  </property>
  <property fmtid="{D5CDD505-2E9C-101B-9397-08002B2CF9AE}" pid="5" name="MSIP_Label_4b0daab4-b646-43ae-ac6e-8cb22112916e_Name">
    <vt:lpwstr>4b0daab4-b646-43ae-ac6e-8cb22112916e</vt:lpwstr>
  </property>
  <property fmtid="{D5CDD505-2E9C-101B-9397-08002B2CF9AE}" pid="6" name="MSIP_Label_4b0daab4-b646-43ae-ac6e-8cb22112916e_SiteId">
    <vt:lpwstr>b6e8236b-ceb2-401d-9169-2917d0b07d48</vt:lpwstr>
  </property>
  <property fmtid="{D5CDD505-2E9C-101B-9397-08002B2CF9AE}" pid="7" name="MSIP_Label_4b0daab4-b646-43ae-ac6e-8cb22112916e_ActionId">
    <vt:lpwstr>d1d23d40-00ff-4558-bc28-7f3ef2f6eb6a</vt:lpwstr>
  </property>
  <property fmtid="{D5CDD505-2E9C-101B-9397-08002B2CF9AE}" pid="8" name="MSIP_Label_4b0daab4-b646-43ae-ac6e-8cb22112916e_ContentBits">
    <vt:lpwstr>0</vt:lpwstr>
  </property>
</Properties>
</file>